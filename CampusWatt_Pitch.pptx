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96F1CD86-4666-3C2E-195F-AC00CC66518C}">
          <p14:sldIdLst>
            <p14:sldId id="256"/>
            <p14:sldId id="257"/>
            <p14:sldId id="258"/>
          </p14:sldIdLst>
        </p14:section>
        <p14:section name="Solution" id="{5051076C-76C7-EF13-CB25-4C9F959EFA9A}">
          <p14:sldIdLst>
            <p14:sldId id="259"/>
            <p14:sldId id="260"/>
          </p14:sldIdLst>
        </p14:section>
        <p14:section name="Design" id="{67221A14-27EE-3AD5-9F2E-B9B48653DAA4}">
          <p14:sldIdLst>
            <p14:sldId id="261"/>
            <p14:sldId id="262"/>
            <p14:sldId id="263"/>
            <p14:sldId id="264"/>
          </p14:sldIdLst>
        </p14:section>
        <p14:section name="Plan" id="{D6A3D37C-F4D4-6761-3E46-6210E809DC0F}">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2995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sec) Introduce the team and the project: CampusWatt, a real-time energy audit and management system for a campus. Software-only, built as an event-driven system.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 Campuses pay big electricity bills but only see one monthly total. Nobody knows which building, room or time slot wastes energy, so ACs and lights left on go unnoticed for weeks. State the problem statement from the banner.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Three groups: facility managers and administration who want to cut cost; sustainability committees who need verified savings; students and wardens who benefit from awareness and hostel competitions.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no hardware is needed. A simulator script produces meter readings, open datasets give realistic data for training, and timetable, weather, calendar and bills add context. Real meters can plug into the same API later.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steps. The key idea: the system combines meter data with timetable and weather context, compares against a learned baseline, and alerts. Example numbers are from the simulation.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of 1 min) Walk left to right: sources, ingestion API, queue, stream processor, storage, then alerts and dashboard. Point out that the queue decouples producers from consumers, and that delivery is at-least-once with idempotent writes.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Four capabilities: collect, detect, alert, report.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This is the slide to spend time on. Scale numbers, ingestion under load, time-series retention, reliability, real-time versus batch. Stress that other teams can build variations, and that these are good exam topics.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 Target 10-15% savings by removing wastage. CO2 saved is kWh saved times the grid emission factor. Sustainability-oriented projects are encouraged, so say this clearly.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of 1 min) These are the numbers we will demonstrate at the end: throughput, p95 latency, alert latency, detection recall, and kWh / rupee savings.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1371600"/>
          </a:xfrm>
          <a:prstGeom prst="rect">
            <a:avLst/>
          </a:prstGeom>
          <a:noFill/>
          <a:ln/>
        </p:spPr>
        <p:txBody>
          <a:bodyPr wrap="square" rtlCol="0"/>
          <a:lstStyle>
            <a:lvl1pPr marL="0" indent="0" algn="l">
              <a:buNone/>
              <a:defRPr lang="en-US" sz="6400" b="1" dirty="0">
                <a:solidFill>
                  <a:schemeClr val="bg1"/>
                </a:solidFill>
              </a:defRPr>
            </a:lvl1pPr>
          </a:lstStyle>
          <a:p>
            <a:pPr marL="0" indent="0" algn="l">
              <a:buNone/>
            </a:pPr>
            <a:endParaRPr lang="en-US" sz="6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rtlCol="0"/>
          <a:lstStyle>
            <a:lvl1pPr marL="0" indent="0" algn="l">
              <a:buNone/>
              <a:defRPr lang="en-US" sz="3600" b="1" dirty="0">
                <a:solidFill>
                  <a:schemeClr val="tx2"/>
                </a:solidFill>
              </a:defRPr>
            </a:lvl1pPr>
          </a:lstStyle>
          <a:p>
            <a:pPr marL="0" indent="0" algn="l">
              <a:buNone/>
            </a:pPr>
            <a:endParaRPr lang="en-US" sz="3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chemeClr val="tx1"/>
                </a:solidFill>
              </a:rPr>
              <a:t>CampusWatt  |  System Design Project Pitch</a:t>
            </a:r>
            <a:endParaRPr lang="en-US" sz="11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1"/>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1"/>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1371600"/>
          </a:xfrm>
          <a:prstGeom prst="rect">
            <a:avLst/>
          </a:prstGeom>
          <a:noFill/>
          <a:ln/>
        </p:spPr>
        <p:txBody>
          <a:bodyPr wrap="square" lIns="0" tIns="0" rIns="0" bIns="0" rtlCol="0" anchor="b"/>
          <a:lstStyle/>
          <a:p>
            <a:pPr marL="0" indent="0" algn="l">
              <a:buNone/>
            </a:pPr>
            <a:r>
              <a:rPr lang="en-US" sz="6400" b="1" dirty="0">
                <a:solidFill>
                  <a:schemeClr val="bg1"/>
                </a:solidFill>
              </a:rPr>
              <a:t>CampusWatt</a:t>
            </a:r>
            <a:endParaRPr lang="en-US" sz="6400" dirty="0"/>
          </a:p>
        </p:txBody>
      </p:sp>
      <p:sp>
        <p:nvSpPr>
          <p:cNvPr id="3" name="Text 1"/>
          <p:cNvSpPr txBox="1"/>
          <p:nvPr/>
        </p:nvSpPr>
        <p:spPr>
          <a:xfrm>
            <a:off x="731520" y="3383280"/>
            <a:ext cx="7498080" cy="548640"/>
          </a:xfrm>
          <a:prstGeom prst="rect">
            <a:avLst/>
          </a:prstGeom>
          <a:noFill/>
          <a:ln/>
        </p:spPr>
        <p:txBody>
          <a:bodyPr wrap="square" lIns="0" tIns="0" rIns="0" bIns="0" rtlCol="0" anchor="t"/>
          <a:lstStyle/>
          <a:p>
            <a:pPr marL="0" indent="0" algn="l">
              <a:buNone/>
            </a:pPr>
            <a:r>
              <a:rPr lang="en-US" sz="2600" dirty="0">
                <a:solidFill>
                  <a:schemeClr val="bg2"/>
                </a:solidFill>
              </a:rPr>
              <a:t>Real-time Energy Audit &amp; Management System</a:t>
            </a:r>
            <a:endParaRPr lang="en-US" sz="2600" dirty="0"/>
          </a:p>
        </p:txBody>
      </p:sp>
      <p:sp>
        <p:nvSpPr>
          <p:cNvPr id="4" name="Text 2"/>
          <p:cNvSpPr txBox="1"/>
          <p:nvPr/>
        </p:nvSpPr>
        <p:spPr>
          <a:xfrm>
            <a:off x="731520" y="4114800"/>
            <a:ext cx="7498080" cy="365760"/>
          </a:xfrm>
          <a:prstGeom prst="rect">
            <a:avLst/>
          </a:prstGeom>
          <a:noFill/>
          <a:ln/>
        </p:spPr>
        <p:txBody>
          <a:bodyPr wrap="square" lIns="0" tIns="0" rIns="0" bIns="0" rtlCol="0" anchor="t"/>
          <a:lstStyle/>
          <a:p>
            <a:pPr marL="0" indent="0" algn="l">
              <a:buNone/>
            </a:pPr>
            <a:r>
              <a:rPr lang="en-US" sz="1800" b="1">
                <a:solidFill>
                  <a:schemeClr val="accent3"/>
                </a:solidFill>
              </a:rPr>
              <a:t>Computer System </a:t>
            </a:r>
            <a:r>
              <a:rPr lang="en-US" sz="1800" b="1" dirty="0">
                <a:solidFill>
                  <a:schemeClr val="accent3"/>
                </a:solidFill>
              </a:rPr>
              <a:t>Design |  Project Pitch</a:t>
            </a:r>
            <a:endParaRPr lang="en-US" sz="1800" dirty="0"/>
          </a:p>
        </p:txBody>
      </p:sp>
      <p:sp>
        <p:nvSpPr>
          <p:cNvPr id="6" name="Shape 4"/>
          <p:cNvSpPr/>
          <p:nvPr/>
        </p:nvSpPr>
        <p:spPr>
          <a:xfrm>
            <a:off x="8778240" y="1737360"/>
            <a:ext cx="2743200" cy="2743200"/>
          </a:xfrm>
          <a:prstGeom prst="ellipse">
            <a:avLst/>
          </a:prstGeom>
          <a:solidFill>
            <a:schemeClr val="accent2"/>
          </a:solidFill>
          <a:ln w="12700">
            <a:solidFill>
              <a:schemeClr val="accent2"/>
            </a:solidFill>
            <a:prstDash val="solid"/>
          </a:ln>
        </p:spPr>
      </p:sp>
      <p:pic>
        <p:nvPicPr>
          <p:cNvPr id="7" name="Image 0" descr="preencoded.png"/>
          <p:cNvPicPr>
            <a:picLocks noChangeAspect="1"/>
          </p:cNvPicPr>
          <p:nvPr/>
        </p:nvPicPr>
        <p:blipFill>
          <a:blip r:embed="rId3"/>
          <a:stretch>
            <a:fillRect/>
          </a:stretch>
        </p:blipFill>
        <p:spPr>
          <a:xfrm>
            <a:off x="9464040" y="2423160"/>
            <a:ext cx="1371600" cy="1371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chemeClr val="tx2"/>
                </a:solidFill>
              </a:rPr>
              <a:t>Campuses can't see where energy goes</a:t>
            </a:r>
            <a:endParaRPr lang="en-US" sz="3600" dirty="0"/>
          </a:p>
        </p:txBody>
      </p:sp>
      <p:sp>
        <p:nvSpPr>
          <p:cNvPr id="3" name="ProblemCard1"/>
          <p:cNvSpPr/>
          <p:nvPr/>
        </p:nvSpPr>
        <p:spPr>
          <a:xfrm>
            <a:off x="548640" y="1463040"/>
            <a:ext cx="3566160" cy="3108960"/>
          </a:xfrm>
          <a:prstGeom prst="roundRect">
            <a:avLst>
              <a:gd name="adj" fmla="val 3529"/>
            </a:avLst>
          </a:prstGeom>
          <a:solidFill>
            <a:schemeClr val="bg2"/>
          </a:solidFill>
          <a:ln w="12700">
            <a:solidFill>
              <a:schemeClr val="bg2"/>
            </a:solidFill>
            <a:prstDash val="solid"/>
          </a:ln>
          <a:effectLst>
            <a:outerShdw blurRad="76200" dist="25400" dir="5400000" algn="bl" rotWithShape="0">
              <a:srgbClr val="000000">
                <a:alpha val="10000"/>
              </a:srgbClr>
            </a:outerShdw>
          </a:effectLst>
        </p:spPr>
      </p:sp>
      <p:sp>
        <p:nvSpPr>
          <p:cNvPr id="4" name="Shape 2"/>
          <p:cNvSpPr/>
          <p:nvPr/>
        </p:nvSpPr>
        <p:spPr>
          <a:xfrm>
            <a:off x="822960" y="1737360"/>
            <a:ext cx="777240" cy="777240"/>
          </a:xfrm>
          <a:prstGeom prst="ellipse">
            <a:avLst/>
          </a:prstGeom>
          <a:solidFill>
            <a:schemeClr val="accent1"/>
          </a:solidFill>
          <a:ln w="12700">
            <a:solidFill>
              <a:schemeClr val="accent1"/>
            </a:solidFill>
            <a:prstDash val="solid"/>
          </a:ln>
        </p:spPr>
      </p:sp>
      <p:pic>
        <p:nvPicPr>
          <p:cNvPr id="5" name="Image 0" descr="preencoded.png"/>
          <p:cNvPicPr>
            <a:picLocks noChangeAspect="1"/>
          </p:cNvPicPr>
          <p:nvPr/>
        </p:nvPicPr>
        <p:blipFill>
          <a:blip r:embed="rId3"/>
          <a:stretch>
            <a:fillRect/>
          </a:stretch>
        </p:blipFill>
        <p:spPr>
          <a:xfrm>
            <a:off x="1032815" y="1947215"/>
            <a:ext cx="357530" cy="357530"/>
          </a:xfrm>
          <a:prstGeom prst="rect">
            <a:avLst/>
          </a:prstGeom>
        </p:spPr>
      </p:pic>
      <p:sp>
        <p:nvSpPr>
          <p:cNvPr id="6" name="Text 3"/>
          <p:cNvSpPr txBox="1"/>
          <p:nvPr/>
        </p:nvSpPr>
        <p:spPr>
          <a:xfrm>
            <a:off x="822960" y="2697480"/>
            <a:ext cx="3017520" cy="411480"/>
          </a:xfrm>
          <a:prstGeom prst="rect">
            <a:avLst/>
          </a:prstGeom>
          <a:noFill/>
          <a:ln/>
        </p:spPr>
        <p:txBody>
          <a:bodyPr wrap="square" lIns="0" tIns="0" rIns="0" bIns="0" rtlCol="0" anchor="t"/>
          <a:lstStyle/>
          <a:p>
            <a:pPr marL="0" indent="0" algn="l">
              <a:buNone/>
            </a:pPr>
            <a:r>
              <a:rPr lang="en-US" sz="2000" b="1" dirty="0">
                <a:solidFill>
                  <a:schemeClr val="tx2"/>
                </a:solidFill>
              </a:rPr>
              <a:t>One number a month</a:t>
            </a:r>
            <a:endParaRPr lang="en-US" sz="2000" dirty="0"/>
          </a:p>
        </p:txBody>
      </p:sp>
      <p:sp>
        <p:nvSpPr>
          <p:cNvPr id="7" name="Text 4"/>
          <p:cNvSpPr txBox="1"/>
          <p:nvPr/>
        </p:nvSpPr>
        <p:spPr>
          <a:xfrm>
            <a:off x="822960" y="3200400"/>
            <a:ext cx="3017520" cy="1280160"/>
          </a:xfrm>
          <a:prstGeom prst="rect">
            <a:avLst/>
          </a:prstGeom>
          <a:noFill/>
          <a:ln/>
        </p:spPr>
        <p:txBody>
          <a:bodyPr wrap="square" lIns="0" tIns="0" rIns="0" bIns="0" rtlCol="0" anchor="t"/>
          <a:lstStyle/>
          <a:p>
            <a:pPr marL="0" indent="0" algn="l">
              <a:buNone/>
            </a:pPr>
            <a:r>
              <a:rPr lang="en-US" sz="1600" dirty="0">
                <a:solidFill>
                  <a:schemeClr val="tx1"/>
                </a:solidFill>
              </a:rPr>
              <a:t>Admins see a single electricity bill. There is no breakdown by building, room or time slot.</a:t>
            </a:r>
            <a:endParaRPr lang="en-US" sz="1600" dirty="0"/>
          </a:p>
        </p:txBody>
      </p:sp>
      <p:sp>
        <p:nvSpPr>
          <p:cNvPr id="8" name="ProblemCard2"/>
          <p:cNvSpPr/>
          <p:nvPr/>
        </p:nvSpPr>
        <p:spPr>
          <a:xfrm>
            <a:off x="4297680" y="1463040"/>
            <a:ext cx="3566160" cy="3108960"/>
          </a:xfrm>
          <a:prstGeom prst="roundRect">
            <a:avLst>
              <a:gd name="adj" fmla="val 3529"/>
            </a:avLst>
          </a:prstGeom>
          <a:solidFill>
            <a:schemeClr val="bg2"/>
          </a:solidFill>
          <a:ln w="12700">
            <a:solidFill>
              <a:schemeClr val="bg2"/>
            </a:solidFill>
            <a:prstDash val="solid"/>
          </a:ln>
          <a:effectLst>
            <a:outerShdw blurRad="76200" dist="25400" dir="5400000" algn="bl" rotWithShape="0">
              <a:srgbClr val="000000">
                <a:alpha val="10000"/>
              </a:srgbClr>
            </a:outerShdw>
          </a:effectLst>
        </p:spPr>
      </p:sp>
      <p:sp>
        <p:nvSpPr>
          <p:cNvPr id="9" name="Shape 6"/>
          <p:cNvSpPr/>
          <p:nvPr/>
        </p:nvSpPr>
        <p:spPr>
          <a:xfrm>
            <a:off x="4572000" y="1737360"/>
            <a:ext cx="777240" cy="777240"/>
          </a:xfrm>
          <a:prstGeom prst="ellipse">
            <a:avLst/>
          </a:prstGeom>
          <a:solidFill>
            <a:schemeClr val="accent4"/>
          </a:solidFill>
          <a:ln w="12700">
            <a:solidFill>
              <a:schemeClr val="accent4"/>
            </a:solidFill>
            <a:prstDash val="solid"/>
          </a:ln>
        </p:spPr>
      </p:sp>
      <p:pic>
        <p:nvPicPr>
          <p:cNvPr id="10" name="Image 1" descr="preencoded.png"/>
          <p:cNvPicPr>
            <a:picLocks noChangeAspect="1"/>
          </p:cNvPicPr>
          <p:nvPr/>
        </p:nvPicPr>
        <p:blipFill>
          <a:blip r:embed="rId4"/>
          <a:stretch>
            <a:fillRect/>
          </a:stretch>
        </p:blipFill>
        <p:spPr>
          <a:xfrm>
            <a:off x="4781855" y="1947215"/>
            <a:ext cx="357530" cy="357530"/>
          </a:xfrm>
          <a:prstGeom prst="rect">
            <a:avLst/>
          </a:prstGeom>
        </p:spPr>
      </p:pic>
      <p:sp>
        <p:nvSpPr>
          <p:cNvPr id="11" name="Text 7"/>
          <p:cNvSpPr txBox="1"/>
          <p:nvPr/>
        </p:nvSpPr>
        <p:spPr>
          <a:xfrm>
            <a:off x="4572000" y="2697480"/>
            <a:ext cx="3017520" cy="411480"/>
          </a:xfrm>
          <a:prstGeom prst="rect">
            <a:avLst/>
          </a:prstGeom>
          <a:noFill/>
          <a:ln/>
        </p:spPr>
        <p:txBody>
          <a:bodyPr wrap="square" lIns="0" tIns="0" rIns="0" bIns="0" rtlCol="0" anchor="t"/>
          <a:lstStyle/>
          <a:p>
            <a:pPr marL="0" indent="0" algn="l">
              <a:buNone/>
            </a:pPr>
            <a:r>
              <a:rPr lang="en-US" sz="2000" b="1" dirty="0">
                <a:solidFill>
                  <a:schemeClr val="tx2"/>
                </a:solidFill>
              </a:rPr>
              <a:t>Waste goes unnoticed</a:t>
            </a:r>
            <a:endParaRPr lang="en-US" sz="2000" dirty="0"/>
          </a:p>
        </p:txBody>
      </p:sp>
      <p:sp>
        <p:nvSpPr>
          <p:cNvPr id="12" name="Text 8"/>
          <p:cNvSpPr txBox="1"/>
          <p:nvPr/>
        </p:nvSpPr>
        <p:spPr>
          <a:xfrm>
            <a:off x="4572000" y="3200400"/>
            <a:ext cx="3017520" cy="1280160"/>
          </a:xfrm>
          <a:prstGeom prst="rect">
            <a:avLst/>
          </a:prstGeom>
          <a:noFill/>
          <a:ln/>
        </p:spPr>
        <p:txBody>
          <a:bodyPr wrap="square" lIns="0" tIns="0" rIns="0" bIns="0" rtlCol="0" anchor="t"/>
          <a:lstStyle/>
          <a:p>
            <a:pPr marL="0" indent="0" algn="l">
              <a:buNone/>
            </a:pPr>
            <a:r>
              <a:rPr lang="en-US" sz="1600" dirty="0">
                <a:solidFill>
                  <a:schemeClr val="tx1"/>
                </a:solidFill>
              </a:rPr>
              <a:t>ACs, lights and idle labs left on overnight or at weekends can run for weeks before anyone notices.</a:t>
            </a:r>
            <a:endParaRPr lang="en-US" sz="1600" dirty="0"/>
          </a:p>
        </p:txBody>
      </p:sp>
      <p:sp>
        <p:nvSpPr>
          <p:cNvPr id="13" name="ProblemCard3"/>
          <p:cNvSpPr/>
          <p:nvPr/>
        </p:nvSpPr>
        <p:spPr>
          <a:xfrm>
            <a:off x="8046720" y="1463040"/>
            <a:ext cx="3566160" cy="3108960"/>
          </a:xfrm>
          <a:prstGeom prst="roundRect">
            <a:avLst>
              <a:gd name="adj" fmla="val 3529"/>
            </a:avLst>
          </a:prstGeom>
          <a:solidFill>
            <a:schemeClr val="bg2"/>
          </a:solidFill>
          <a:ln w="12700">
            <a:solidFill>
              <a:schemeClr val="bg2"/>
            </a:solidFill>
            <a:prstDash val="solid"/>
          </a:ln>
          <a:effectLst>
            <a:outerShdw blurRad="76200" dist="25400" dir="5400000" algn="bl" rotWithShape="0">
              <a:srgbClr val="000000">
                <a:alpha val="10000"/>
              </a:srgbClr>
            </a:outerShdw>
          </a:effectLst>
        </p:spPr>
      </p:sp>
      <p:sp>
        <p:nvSpPr>
          <p:cNvPr id="14" name="Shape 10"/>
          <p:cNvSpPr/>
          <p:nvPr/>
        </p:nvSpPr>
        <p:spPr>
          <a:xfrm>
            <a:off x="8321040" y="1737360"/>
            <a:ext cx="777240" cy="777240"/>
          </a:xfrm>
          <a:prstGeom prst="ellipse">
            <a:avLst/>
          </a:prstGeom>
          <a:solidFill>
            <a:schemeClr val="accent1"/>
          </a:solidFill>
          <a:ln w="12700">
            <a:solidFill>
              <a:schemeClr val="accent1"/>
            </a:solidFill>
            <a:prstDash val="solid"/>
          </a:ln>
        </p:spPr>
      </p:sp>
      <p:pic>
        <p:nvPicPr>
          <p:cNvPr id="15" name="Image 2" descr="preencoded.png"/>
          <p:cNvPicPr>
            <a:picLocks noChangeAspect="1"/>
          </p:cNvPicPr>
          <p:nvPr/>
        </p:nvPicPr>
        <p:blipFill>
          <a:blip r:embed="rId5"/>
          <a:stretch>
            <a:fillRect/>
          </a:stretch>
        </p:blipFill>
        <p:spPr>
          <a:xfrm>
            <a:off x="8530895" y="1947215"/>
            <a:ext cx="357530" cy="357530"/>
          </a:xfrm>
          <a:prstGeom prst="rect">
            <a:avLst/>
          </a:prstGeom>
        </p:spPr>
      </p:pic>
      <p:sp>
        <p:nvSpPr>
          <p:cNvPr id="16" name="Text 11"/>
          <p:cNvSpPr txBox="1"/>
          <p:nvPr/>
        </p:nvSpPr>
        <p:spPr>
          <a:xfrm>
            <a:off x="8321040" y="2697480"/>
            <a:ext cx="3017520" cy="411480"/>
          </a:xfrm>
          <a:prstGeom prst="rect">
            <a:avLst/>
          </a:prstGeom>
          <a:noFill/>
          <a:ln/>
        </p:spPr>
        <p:txBody>
          <a:bodyPr wrap="square" lIns="0" tIns="0" rIns="0" bIns="0" rtlCol="0" anchor="t"/>
          <a:lstStyle/>
          <a:p>
            <a:pPr marL="0" indent="0" algn="l">
              <a:buNone/>
            </a:pPr>
            <a:r>
              <a:rPr lang="en-US" sz="2000" b="1" dirty="0">
                <a:solidFill>
                  <a:schemeClr val="tx2"/>
                </a:solidFill>
              </a:rPr>
              <a:t>No data to act on</a:t>
            </a:r>
            <a:endParaRPr lang="en-US" sz="2000" dirty="0"/>
          </a:p>
        </p:txBody>
      </p:sp>
      <p:sp>
        <p:nvSpPr>
          <p:cNvPr id="17" name="Text 12"/>
          <p:cNvSpPr txBox="1"/>
          <p:nvPr/>
        </p:nvSpPr>
        <p:spPr>
          <a:xfrm>
            <a:off x="8321040" y="3200400"/>
            <a:ext cx="3017520" cy="1280160"/>
          </a:xfrm>
          <a:prstGeom prst="rect">
            <a:avLst/>
          </a:prstGeom>
          <a:noFill/>
          <a:ln/>
        </p:spPr>
        <p:txBody>
          <a:bodyPr wrap="square" lIns="0" tIns="0" rIns="0" bIns="0" rtlCol="0" anchor="t"/>
          <a:lstStyle/>
          <a:p>
            <a:pPr marL="0" indent="0" algn="l">
              <a:buNone/>
            </a:pPr>
            <a:r>
              <a:rPr lang="en-US" sz="1600" dirty="0">
                <a:solidFill>
                  <a:schemeClr val="tx1"/>
                </a:solidFill>
              </a:rPr>
              <a:t>Without fine-grained data there are no baselines, no alerts, and no way to prove savings or emission cuts.</a:t>
            </a:r>
            <a:endParaRPr lang="en-US" sz="1600" dirty="0"/>
          </a:p>
        </p:txBody>
      </p:sp>
      <p:sp>
        <p:nvSpPr>
          <p:cNvPr id="18" name="ProblemStatementBanner"/>
          <p:cNvSpPr/>
          <p:nvPr/>
        </p:nvSpPr>
        <p:spPr>
          <a:xfrm>
            <a:off x="548640" y="4846320"/>
            <a:ext cx="11064240" cy="1371600"/>
          </a:xfrm>
          <a:prstGeom prst="roundRect">
            <a:avLst>
              <a:gd name="adj" fmla="val 8000"/>
            </a:avLst>
          </a:prstGeom>
          <a:solidFill>
            <a:schemeClr val="tx2"/>
          </a:solidFill>
          <a:ln w="12700">
            <a:solidFill>
              <a:schemeClr val="tx2"/>
            </a:solidFill>
            <a:prstDash val="solid"/>
          </a:ln>
        </p:spPr>
      </p:sp>
      <p:sp>
        <p:nvSpPr>
          <p:cNvPr id="19" name="Text 14"/>
          <p:cNvSpPr txBox="1"/>
          <p:nvPr/>
        </p:nvSpPr>
        <p:spPr>
          <a:xfrm>
            <a:off x="822960" y="4983480"/>
            <a:ext cx="10515600" cy="1097280"/>
          </a:xfrm>
          <a:prstGeom prst="rect">
            <a:avLst/>
          </a:prstGeom>
          <a:noFill/>
          <a:ln/>
        </p:spPr>
        <p:txBody>
          <a:bodyPr wrap="square" lIns="0" tIns="0" rIns="0" bIns="0" rtlCol="0" anchor="ctr"/>
          <a:lstStyle/>
          <a:p>
            <a:pPr marL="0" indent="0" algn="l">
              <a:buNone/>
            </a:pPr>
            <a:r>
              <a:rPr lang="en-US" sz="2000" b="1" dirty="0">
                <a:solidFill>
                  <a:schemeClr val="accent2"/>
                </a:solidFill>
              </a:rPr>
              <a:t>Problem statement  </a:t>
            </a:r>
            <a:r>
              <a:rPr lang="en-US" sz="2000" dirty="0">
                <a:solidFill>
                  <a:schemeClr val="bg1"/>
                </a:solidFill>
              </a:rPr>
              <a:t>Campuses lack fine-grained visibility into energy use, so wastage goes undetected and costs and emissions stay high.</a:t>
            </a:r>
            <a:endParaRPr lang="en-US" sz="2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1"/>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chemeClr val="tx2"/>
                </a:solidFill>
              </a:rPr>
              <a:t>Who needs CampusWatt</a:t>
            </a:r>
            <a:endParaRPr lang="en-US" sz="3600" dirty="0"/>
          </a:p>
        </p:txBody>
      </p:sp>
      <p:sp>
        <p:nvSpPr>
          <p:cNvPr id="3" name="WhoCard1"/>
          <p:cNvSpPr/>
          <p:nvPr/>
        </p:nvSpPr>
        <p:spPr>
          <a:xfrm>
            <a:off x="548640" y="1463040"/>
            <a:ext cx="11064240" cy="1371600"/>
          </a:xfrm>
          <a:prstGeom prst="roundRect">
            <a:avLst>
              <a:gd name="adj" fmla="val 8000"/>
            </a:avLst>
          </a:prstGeom>
          <a:solidFill>
            <a:schemeClr val="bg2"/>
          </a:solidFill>
          <a:ln w="12700">
            <a:solidFill>
              <a:schemeClr val="bg2"/>
            </a:solidFill>
            <a:prstDash val="solid"/>
          </a:ln>
          <a:effectLst>
            <a:outerShdw blurRad="76200" dist="25400" dir="5400000" algn="bl" rotWithShape="0">
              <a:srgbClr val="000000">
                <a:alpha val="10000"/>
              </a:srgbClr>
            </a:outerShdw>
          </a:effectLst>
        </p:spPr>
      </p:sp>
      <p:sp>
        <p:nvSpPr>
          <p:cNvPr id="4" name="Shape 2"/>
          <p:cNvSpPr/>
          <p:nvPr/>
        </p:nvSpPr>
        <p:spPr>
          <a:xfrm>
            <a:off x="822960" y="1737360"/>
            <a:ext cx="822960" cy="822960"/>
          </a:xfrm>
          <a:prstGeom prst="ellipse">
            <a:avLst/>
          </a:prstGeom>
          <a:solidFill>
            <a:schemeClr val="accent1"/>
          </a:solidFill>
          <a:ln w="12700">
            <a:solidFill>
              <a:schemeClr val="accent1"/>
            </a:solidFill>
            <a:prstDash val="solid"/>
          </a:ln>
        </p:spPr>
      </p:sp>
      <p:pic>
        <p:nvPicPr>
          <p:cNvPr id="5" name="Image 0" descr="preencoded.png"/>
          <p:cNvPicPr>
            <a:picLocks noChangeAspect="1"/>
          </p:cNvPicPr>
          <p:nvPr/>
        </p:nvPicPr>
        <p:blipFill>
          <a:blip r:embed="rId3"/>
          <a:stretch>
            <a:fillRect/>
          </a:stretch>
        </p:blipFill>
        <p:spPr>
          <a:xfrm>
            <a:off x="1045159" y="1959559"/>
            <a:ext cx="378562" cy="378562"/>
          </a:xfrm>
          <a:prstGeom prst="rect">
            <a:avLst/>
          </a:prstGeom>
        </p:spPr>
      </p:pic>
      <p:sp>
        <p:nvSpPr>
          <p:cNvPr id="6" name="Text 3"/>
          <p:cNvSpPr txBox="1"/>
          <p:nvPr/>
        </p:nvSpPr>
        <p:spPr>
          <a:xfrm>
            <a:off x="2011680" y="1645920"/>
            <a:ext cx="4023360" cy="1005840"/>
          </a:xfrm>
          <a:prstGeom prst="rect">
            <a:avLst/>
          </a:prstGeom>
          <a:noFill/>
          <a:ln/>
        </p:spPr>
        <p:txBody>
          <a:bodyPr wrap="square" lIns="0" tIns="0" rIns="0" bIns="0" rtlCol="0" anchor="ctr"/>
          <a:lstStyle/>
          <a:p>
            <a:pPr marL="0" indent="0" algn="l">
              <a:buNone/>
            </a:pPr>
            <a:r>
              <a:rPr lang="en-US" sz="2000" b="1" dirty="0">
                <a:solidFill>
                  <a:schemeClr val="tx2"/>
                </a:solidFill>
              </a:rPr>
              <a:t>Administration and facility managers</a:t>
            </a:r>
            <a:endParaRPr lang="en-US" sz="2000" dirty="0"/>
          </a:p>
        </p:txBody>
      </p:sp>
      <p:sp>
        <p:nvSpPr>
          <p:cNvPr id="7" name="Text 4"/>
          <p:cNvSpPr txBox="1"/>
          <p:nvPr/>
        </p:nvSpPr>
        <p:spPr>
          <a:xfrm>
            <a:off x="6309360" y="1645920"/>
            <a:ext cx="5029200" cy="1005840"/>
          </a:xfrm>
          <a:prstGeom prst="rect">
            <a:avLst/>
          </a:prstGeom>
          <a:noFill/>
          <a:ln/>
        </p:spPr>
        <p:txBody>
          <a:bodyPr wrap="square" lIns="0" tIns="0" rIns="0" bIns="0" rtlCol="0" anchor="ctr"/>
          <a:lstStyle/>
          <a:p>
            <a:pPr marL="0" indent="0" algn="l">
              <a:buNone/>
            </a:pPr>
            <a:r>
              <a:rPr lang="en-US" sz="1600" dirty="0">
                <a:solidFill>
                  <a:schemeClr val="tx1"/>
                </a:solidFill>
              </a:rPr>
              <a:t>Cost control: see which building or room is wasting power, and act on alerts the same day.</a:t>
            </a:r>
            <a:endParaRPr lang="en-US" sz="1600" dirty="0"/>
          </a:p>
        </p:txBody>
      </p:sp>
      <p:sp>
        <p:nvSpPr>
          <p:cNvPr id="8" name="WhoCard2"/>
          <p:cNvSpPr/>
          <p:nvPr/>
        </p:nvSpPr>
        <p:spPr>
          <a:xfrm>
            <a:off x="548640" y="3063240"/>
            <a:ext cx="11064240" cy="1371600"/>
          </a:xfrm>
          <a:prstGeom prst="roundRect">
            <a:avLst>
              <a:gd name="adj" fmla="val 8000"/>
            </a:avLst>
          </a:prstGeom>
          <a:solidFill>
            <a:schemeClr val="bg2"/>
          </a:solidFill>
          <a:ln w="12700">
            <a:solidFill>
              <a:schemeClr val="bg2"/>
            </a:solidFill>
            <a:prstDash val="solid"/>
          </a:ln>
          <a:effectLst>
            <a:outerShdw blurRad="76200" dist="25400" dir="5400000" algn="bl" rotWithShape="0">
              <a:srgbClr val="000000">
                <a:alpha val="10000"/>
              </a:srgbClr>
            </a:outerShdw>
          </a:effectLst>
        </p:spPr>
      </p:sp>
      <p:sp>
        <p:nvSpPr>
          <p:cNvPr id="9" name="Shape 6"/>
          <p:cNvSpPr/>
          <p:nvPr/>
        </p:nvSpPr>
        <p:spPr>
          <a:xfrm>
            <a:off x="822960" y="3337560"/>
            <a:ext cx="822960" cy="822960"/>
          </a:xfrm>
          <a:prstGeom prst="ellipse">
            <a:avLst/>
          </a:prstGeom>
          <a:solidFill>
            <a:schemeClr val="accent1"/>
          </a:solidFill>
          <a:ln w="12700">
            <a:solidFill>
              <a:schemeClr val="accent1"/>
            </a:solidFill>
            <a:prstDash val="solid"/>
          </a:ln>
        </p:spPr>
      </p:sp>
      <p:pic>
        <p:nvPicPr>
          <p:cNvPr id="10" name="Image 1" descr="preencoded.png"/>
          <p:cNvPicPr>
            <a:picLocks noChangeAspect="1"/>
          </p:cNvPicPr>
          <p:nvPr/>
        </p:nvPicPr>
        <p:blipFill>
          <a:blip r:embed="rId4"/>
          <a:stretch>
            <a:fillRect/>
          </a:stretch>
        </p:blipFill>
        <p:spPr>
          <a:xfrm>
            <a:off x="1045159" y="3559759"/>
            <a:ext cx="378562" cy="378562"/>
          </a:xfrm>
          <a:prstGeom prst="rect">
            <a:avLst/>
          </a:prstGeom>
        </p:spPr>
      </p:pic>
      <p:sp>
        <p:nvSpPr>
          <p:cNvPr id="11" name="Text 7"/>
          <p:cNvSpPr txBox="1"/>
          <p:nvPr/>
        </p:nvSpPr>
        <p:spPr>
          <a:xfrm>
            <a:off x="2011680" y="3246120"/>
            <a:ext cx="4023360" cy="1005840"/>
          </a:xfrm>
          <a:prstGeom prst="rect">
            <a:avLst/>
          </a:prstGeom>
          <a:noFill/>
          <a:ln/>
        </p:spPr>
        <p:txBody>
          <a:bodyPr wrap="square" lIns="0" tIns="0" rIns="0" bIns="0" rtlCol="0" anchor="ctr"/>
          <a:lstStyle/>
          <a:p>
            <a:pPr marL="0" indent="0" algn="l">
              <a:buNone/>
            </a:pPr>
            <a:r>
              <a:rPr lang="en-US" sz="2000" b="1" dirty="0">
                <a:solidFill>
                  <a:schemeClr val="tx2"/>
                </a:solidFill>
              </a:rPr>
              <a:t>Sustainability and green campus committees</a:t>
            </a:r>
            <a:endParaRPr lang="en-US" sz="2000" dirty="0"/>
          </a:p>
        </p:txBody>
      </p:sp>
      <p:sp>
        <p:nvSpPr>
          <p:cNvPr id="12" name="Text 8"/>
          <p:cNvSpPr txBox="1"/>
          <p:nvPr/>
        </p:nvSpPr>
        <p:spPr>
          <a:xfrm>
            <a:off x="6309360" y="3246120"/>
            <a:ext cx="5029200" cy="1005840"/>
          </a:xfrm>
          <a:prstGeom prst="rect">
            <a:avLst/>
          </a:prstGeom>
          <a:noFill/>
          <a:ln/>
        </p:spPr>
        <p:txBody>
          <a:bodyPr wrap="square" lIns="0" tIns="0" rIns="0" bIns="0" rtlCol="0" anchor="ctr"/>
          <a:lstStyle/>
          <a:p>
            <a:pPr marL="0" indent="0" algn="l">
              <a:buNone/>
            </a:pPr>
            <a:r>
              <a:rPr lang="en-US" sz="1600" dirty="0">
                <a:solidFill>
                  <a:schemeClr val="tx1"/>
                </a:solidFill>
              </a:rPr>
              <a:t>Carbon targets: verified kWh and CO2 savings, plus audit-ready monthly reports.</a:t>
            </a:r>
            <a:endParaRPr lang="en-US" sz="1600" dirty="0"/>
          </a:p>
        </p:txBody>
      </p:sp>
      <p:sp>
        <p:nvSpPr>
          <p:cNvPr id="13" name="WhoCard3"/>
          <p:cNvSpPr/>
          <p:nvPr/>
        </p:nvSpPr>
        <p:spPr>
          <a:xfrm>
            <a:off x="548640" y="4663440"/>
            <a:ext cx="11064240" cy="1371600"/>
          </a:xfrm>
          <a:prstGeom prst="roundRect">
            <a:avLst>
              <a:gd name="adj" fmla="val 8000"/>
            </a:avLst>
          </a:prstGeom>
          <a:solidFill>
            <a:schemeClr val="bg2"/>
          </a:solidFill>
          <a:ln w="12700">
            <a:solidFill>
              <a:schemeClr val="bg2"/>
            </a:solidFill>
            <a:prstDash val="solid"/>
          </a:ln>
          <a:effectLst>
            <a:outerShdw blurRad="76200" dist="25400" dir="5400000" algn="bl" rotWithShape="0">
              <a:srgbClr val="000000">
                <a:alpha val="10000"/>
              </a:srgbClr>
            </a:outerShdw>
          </a:effectLst>
        </p:spPr>
      </p:sp>
      <p:sp>
        <p:nvSpPr>
          <p:cNvPr id="14" name="Shape 10"/>
          <p:cNvSpPr/>
          <p:nvPr/>
        </p:nvSpPr>
        <p:spPr>
          <a:xfrm>
            <a:off x="822960" y="4937760"/>
            <a:ext cx="822960" cy="822960"/>
          </a:xfrm>
          <a:prstGeom prst="ellipse">
            <a:avLst/>
          </a:prstGeom>
          <a:solidFill>
            <a:schemeClr val="accent1"/>
          </a:solidFill>
          <a:ln w="12700">
            <a:solidFill>
              <a:schemeClr val="accent1"/>
            </a:solidFill>
            <a:prstDash val="solid"/>
          </a:ln>
        </p:spPr>
      </p:sp>
      <p:pic>
        <p:nvPicPr>
          <p:cNvPr id="15" name="Image 2" descr="preencoded.png"/>
          <p:cNvPicPr>
            <a:picLocks noChangeAspect="1"/>
          </p:cNvPicPr>
          <p:nvPr/>
        </p:nvPicPr>
        <p:blipFill>
          <a:blip r:embed="rId5"/>
          <a:stretch>
            <a:fillRect/>
          </a:stretch>
        </p:blipFill>
        <p:spPr>
          <a:xfrm>
            <a:off x="1045159" y="5159959"/>
            <a:ext cx="378562" cy="378562"/>
          </a:xfrm>
          <a:prstGeom prst="rect">
            <a:avLst/>
          </a:prstGeom>
        </p:spPr>
      </p:pic>
      <p:sp>
        <p:nvSpPr>
          <p:cNvPr id="16" name="Text 11"/>
          <p:cNvSpPr txBox="1"/>
          <p:nvPr/>
        </p:nvSpPr>
        <p:spPr>
          <a:xfrm>
            <a:off x="2011680" y="4846320"/>
            <a:ext cx="4023360" cy="1005840"/>
          </a:xfrm>
          <a:prstGeom prst="rect">
            <a:avLst/>
          </a:prstGeom>
          <a:noFill/>
          <a:ln/>
        </p:spPr>
        <p:txBody>
          <a:bodyPr wrap="square" lIns="0" tIns="0" rIns="0" bIns="0" rtlCol="0" anchor="ctr"/>
          <a:lstStyle/>
          <a:p>
            <a:pPr marL="0" indent="0" algn="l">
              <a:buNone/>
            </a:pPr>
            <a:r>
              <a:rPr lang="en-US" sz="2000" b="1" dirty="0">
                <a:solidFill>
                  <a:schemeClr val="tx2"/>
                </a:solidFill>
              </a:rPr>
              <a:t>Students and hostel wardens</a:t>
            </a:r>
            <a:endParaRPr lang="en-US" sz="2000" dirty="0"/>
          </a:p>
        </p:txBody>
      </p:sp>
      <p:sp>
        <p:nvSpPr>
          <p:cNvPr id="17" name="Text 12"/>
          <p:cNvSpPr txBox="1"/>
          <p:nvPr/>
        </p:nvSpPr>
        <p:spPr>
          <a:xfrm>
            <a:off x="6309360" y="4846320"/>
            <a:ext cx="5029200" cy="1005840"/>
          </a:xfrm>
          <a:prstGeom prst="rect">
            <a:avLst/>
          </a:prstGeom>
          <a:noFill/>
          <a:ln/>
        </p:spPr>
        <p:txBody>
          <a:bodyPr wrap="square" lIns="0" tIns="0" rIns="0" bIns="0" rtlCol="0" anchor="ctr"/>
          <a:lstStyle/>
          <a:p>
            <a:pPr marL="0" indent="0" algn="l">
              <a:buNone/>
            </a:pPr>
            <a:r>
              <a:rPr lang="en-US" sz="1600" dirty="0">
                <a:solidFill>
                  <a:schemeClr val="tx1"/>
                </a:solidFill>
              </a:rPr>
              <a:t>Awareness: visible usage and hostel leaderboards that encourage everyday saving habits.</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1"/>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chemeClr val="tx2"/>
                </a:solidFill>
              </a:rPr>
              <a:t>Where the inputs come from</a:t>
            </a:r>
            <a:endParaRPr lang="en-US" sz="3600" dirty="0"/>
          </a:p>
        </p:txBody>
      </p:sp>
      <p:graphicFrame>
        <p:nvGraphicFramePr>
          <p:cNvPr id="5" name="InputsTable"/>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3968496"/>
        </p:xfrm>
        <a:graphic>
          <a:graphicData uri="http://schemas.openxmlformats.org/drawingml/2006/table">
            <a:tbl>
              <a:tblPr/>
              <a:tblGrid>
                <a:gridCol w="283464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566928">
                <a:tc>
                  <a:txBody>
                    <a:bodyPr/>
                    <a:lstStyle/>
                    <a:p>
                      <a:pPr marL="0" indent="0">
                        <a:buNone/>
                      </a:pPr>
                      <a:r>
                        <a:rPr lang="en-US" sz="1400" b="1" dirty="0">
                          <a:solidFill>
                            <a:schemeClr val="bg1"/>
                          </a:solidFill>
                        </a:rPr>
                        <a:t>Input source</a:t>
                      </a:r>
                      <a:endParaRPr lang="en-US" sz="14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What it gives</a:t>
                      </a:r>
                      <a:endParaRPr lang="en-US" sz="14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How we get it</a:t>
                      </a:r>
                      <a:endParaRPr lang="en-US" sz="14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66928">
                <a:tc>
                  <a:txBody>
                    <a:bodyPr/>
                    <a:lstStyle/>
                    <a:p>
                      <a:pPr marL="0" indent="0">
                        <a:buNone/>
                      </a:pPr>
                      <a:r>
                        <a:rPr lang="en-US" sz="1400" b="1" dirty="0">
                          <a:solidFill>
                            <a:schemeClr val="tx1"/>
                          </a:solidFill>
                        </a:rPr>
                        <a:t>Smart-meter simulator (our script)</a:t>
                      </a:r>
                      <a:endParaRPr lang="en-US" sz="14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Per-building / per-room kWh every 1-5 min</a:t>
                      </a:r>
                      <a:endParaRPr lang="en-US" sz="14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Python or Go service posting realistic readings, with injected faults</a:t>
                      </a:r>
                      <a:endParaRPr lang="en-US" sz="14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66928">
                <a:tc>
                  <a:txBody>
                    <a:bodyPr/>
                    <a:lstStyle/>
                    <a:p>
                      <a:pPr marL="0" indent="0">
                        <a:buNone/>
                      </a:pPr>
                      <a:r>
                        <a:rPr lang="en-US" sz="1400" b="1" dirty="0">
                          <a:solidFill>
                            <a:schemeClr val="tx1"/>
                          </a:solidFill>
                        </a:rPr>
                        <a:t>Open datasets</a:t>
                      </a:r>
                      <a:endParaRPr lang="en-US" sz="14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Real consumption data to train and validate</a:t>
                      </a:r>
                      <a:endParaRPr lang="en-US" sz="14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Building Data Genome 2, ASHRAE Great Energy Predictor, UCI power data</a:t>
                      </a:r>
                      <a:endParaRPr lang="en-US" sz="14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66928">
                <a:tc>
                  <a:txBody>
                    <a:bodyPr/>
                    <a:lstStyle/>
                    <a:p>
                      <a:pPr marL="0" indent="0">
                        <a:buNone/>
                      </a:pPr>
                      <a:r>
                        <a:rPr lang="en-US" sz="1400" b="1" dirty="0">
                          <a:solidFill>
                            <a:schemeClr val="tx1"/>
                          </a:solidFill>
                        </a:rPr>
                        <a:t>Timetable / room bookings</a:t>
                      </a:r>
                      <a:endParaRPr lang="en-US" sz="14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Which rooms are occupied, and when</a:t>
                      </a:r>
                      <a:endParaRPr lang="en-US" sz="14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CSV or mock data from the academic schedule</a:t>
                      </a:r>
                      <a:endParaRPr lang="en-US" sz="14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66928">
                <a:tc>
                  <a:txBody>
                    <a:bodyPr/>
                    <a:lstStyle/>
                    <a:p>
                      <a:pPr marL="0" indent="0">
                        <a:buNone/>
                      </a:pPr>
                      <a:r>
                        <a:rPr lang="en-US" sz="1400" b="1" dirty="0">
                          <a:solidFill>
                            <a:schemeClr val="tx1"/>
                          </a:solidFill>
                        </a:rPr>
                        <a:t>Weather API</a:t>
                      </a:r>
                      <a:endParaRPr lang="en-US" sz="14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Temperature and humidity, which drive AC load</a:t>
                      </a:r>
                      <a:endParaRPr lang="en-US" sz="14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Open-Meteo (free, no API key)</a:t>
                      </a:r>
                      <a:endParaRPr lang="en-US" sz="14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66928">
                <a:tc>
                  <a:txBody>
                    <a:bodyPr/>
                    <a:lstStyle/>
                    <a:p>
                      <a:pPr marL="0" indent="0">
                        <a:buNone/>
                      </a:pPr>
                      <a:r>
                        <a:rPr lang="en-US" sz="1400" b="1" dirty="0">
                          <a:solidFill>
                            <a:schemeClr val="tx1"/>
                          </a:solidFill>
                        </a:rPr>
                        <a:t>Academic calendar</a:t>
                      </a:r>
                      <a:endParaRPr lang="en-US" sz="14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Exams, holidays and vacations</a:t>
                      </a:r>
                      <a:endParaRPr lang="en-US" sz="14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Manual config or CSV</a:t>
                      </a:r>
                      <a:endParaRPr lang="en-US" sz="14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566928">
                <a:tc>
                  <a:txBody>
                    <a:bodyPr/>
                    <a:lstStyle/>
                    <a:p>
                      <a:pPr marL="0" indent="0">
                        <a:buNone/>
                      </a:pPr>
                      <a:r>
                        <a:rPr lang="en-US" sz="1400" b="1" dirty="0">
                          <a:solidFill>
                            <a:schemeClr val="tx1"/>
                          </a:solidFill>
                        </a:rPr>
                        <a:t>Electricity bills (CSV)</a:t>
                      </a:r>
                      <a:endParaRPr lang="en-US" sz="14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Monthly totals and tariff slabs</a:t>
                      </a:r>
                      <a:endParaRPr lang="en-US" sz="14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Admin upload, used for rupee cost and validation</a:t>
                      </a:r>
                      <a:endParaRPr lang="en-US" sz="1400" dirty="0"/>
                    </a:p>
                  </a:txBody>
                  <a:tcPr marL="109728" marR="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4" name="HardwareAgnosticCallout"/>
          <p:cNvSpPr/>
          <p:nvPr/>
        </p:nvSpPr>
        <p:spPr>
          <a:xfrm>
            <a:off x="548640" y="5623560"/>
            <a:ext cx="11064240" cy="594360"/>
          </a:xfrm>
          <a:prstGeom prst="roundRect">
            <a:avLst>
              <a:gd name="adj" fmla="val 15385"/>
            </a:avLst>
          </a:prstGeom>
          <a:solidFill>
            <a:schemeClr val="accent2"/>
          </a:solidFill>
          <a:ln w="12700">
            <a:solidFill>
              <a:schemeClr val="accent2"/>
            </a:solidFill>
            <a:prstDash val="solid"/>
          </a:ln>
        </p:spPr>
      </p:sp>
      <p:sp>
        <p:nvSpPr>
          <p:cNvPr id="3" name="Text 2"/>
          <p:cNvSpPr txBox="1"/>
          <p:nvPr/>
        </p:nvSpPr>
        <p:spPr>
          <a:xfrm>
            <a:off x="822960" y="5623560"/>
            <a:ext cx="10515600" cy="594360"/>
          </a:xfrm>
          <a:prstGeom prst="rect">
            <a:avLst/>
          </a:prstGeom>
          <a:noFill/>
          <a:ln/>
        </p:spPr>
        <p:txBody>
          <a:bodyPr wrap="square" lIns="0" tIns="0" rIns="0" bIns="0" rtlCol="0" anchor="ctr"/>
          <a:lstStyle/>
          <a:p>
            <a:pPr marL="0" indent="0" algn="l">
              <a:buNone/>
            </a:pPr>
            <a:r>
              <a:rPr lang="en-US" sz="1600" b="1" dirty="0">
                <a:solidFill>
                  <a:schemeClr val="tx2"/>
                </a:solidFill>
              </a:rPr>
              <a:t>Hardware-agnostic: </a:t>
            </a:r>
            <a:r>
              <a:rPr lang="en-US" sz="1600" dirty="0">
                <a:solidFill>
                  <a:schemeClr val="tx2"/>
                </a:solidFill>
              </a:rPr>
              <a:t>real meters can replace the simulator later through the same ingestion API.</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1"/>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chemeClr val="tx2"/>
                </a:solidFill>
              </a:rPr>
              <a:t>Scenario: Hall 204, Saturday 11 PM</a:t>
            </a:r>
            <a:endParaRPr lang="en-US" sz="3600" dirty="0"/>
          </a:p>
        </p:txBody>
      </p:sp>
      <p:sp>
        <p:nvSpPr>
          <p:cNvPr id="3" name="StepCard1"/>
          <p:cNvSpPr/>
          <p:nvPr/>
        </p:nvSpPr>
        <p:spPr>
          <a:xfrm>
            <a:off x="548640" y="1371600"/>
            <a:ext cx="3566160" cy="1691640"/>
          </a:xfrm>
          <a:prstGeom prst="roundRect">
            <a:avLst>
              <a:gd name="adj" fmla="val 6486"/>
            </a:avLst>
          </a:prstGeom>
          <a:solidFill>
            <a:schemeClr val="bg2"/>
          </a:solidFill>
          <a:ln w="12700">
            <a:solidFill>
              <a:schemeClr val="bg2"/>
            </a:solidFill>
            <a:prstDash val="solid"/>
          </a:ln>
          <a:effectLst>
            <a:outerShdw blurRad="76200" dist="25400" dir="5400000" algn="bl" rotWithShape="0">
              <a:srgbClr val="000000">
                <a:alpha val="10000"/>
              </a:srgbClr>
            </a:outerShdw>
          </a:effectLst>
        </p:spPr>
      </p:sp>
      <p:sp>
        <p:nvSpPr>
          <p:cNvPr id="4" name="Shape 2"/>
          <p:cNvSpPr/>
          <p:nvPr/>
        </p:nvSpPr>
        <p:spPr>
          <a:xfrm>
            <a:off x="777240" y="1600200"/>
            <a:ext cx="502920" cy="502920"/>
          </a:xfrm>
          <a:prstGeom prst="ellipse">
            <a:avLst/>
          </a:prstGeom>
          <a:solidFill>
            <a:schemeClr val="accent1"/>
          </a:solidFill>
          <a:ln w="12700">
            <a:solidFill>
              <a:schemeClr val="accent1"/>
            </a:solidFill>
            <a:prstDash val="solid"/>
          </a:ln>
        </p:spPr>
      </p:sp>
      <p:sp>
        <p:nvSpPr>
          <p:cNvPr id="5" name="Text 3"/>
          <p:cNvSpPr txBox="1"/>
          <p:nvPr/>
        </p:nvSpPr>
        <p:spPr>
          <a:xfrm>
            <a:off x="777240" y="160020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6" name="Text 4"/>
          <p:cNvSpPr txBox="1"/>
          <p:nvPr/>
        </p:nvSpPr>
        <p:spPr>
          <a:xfrm>
            <a:off x="1417320" y="1600200"/>
            <a:ext cx="2560320" cy="502920"/>
          </a:xfrm>
          <a:prstGeom prst="rect">
            <a:avLst/>
          </a:prstGeom>
          <a:noFill/>
          <a:ln/>
        </p:spPr>
        <p:txBody>
          <a:bodyPr wrap="square" lIns="0" tIns="0" rIns="0" bIns="0" rtlCol="0" anchor="ctr"/>
          <a:lstStyle/>
          <a:p>
            <a:pPr marL="0" indent="0" algn="l">
              <a:buNone/>
            </a:pPr>
            <a:r>
              <a:rPr lang="en-US" sz="1800" b="1" dirty="0">
                <a:solidFill>
                  <a:schemeClr val="tx2"/>
                </a:solidFill>
              </a:rPr>
              <a:t>Simulator reports usage</a:t>
            </a:r>
            <a:endParaRPr lang="en-US" sz="1800" dirty="0"/>
          </a:p>
        </p:txBody>
      </p:sp>
      <p:sp>
        <p:nvSpPr>
          <p:cNvPr id="7" name="Text 5"/>
          <p:cNvSpPr txBox="1"/>
          <p:nvPr/>
        </p:nvSpPr>
        <p:spPr>
          <a:xfrm>
            <a:off x="777240" y="2240280"/>
            <a:ext cx="3108960" cy="731520"/>
          </a:xfrm>
          <a:prstGeom prst="rect">
            <a:avLst/>
          </a:prstGeom>
          <a:noFill/>
          <a:ln/>
        </p:spPr>
        <p:txBody>
          <a:bodyPr wrap="square" lIns="0" tIns="0" rIns="0" bIns="0" rtlCol="0" anchor="t"/>
          <a:lstStyle/>
          <a:p>
            <a:pPr marL="0" indent="0" algn="l">
              <a:buNone/>
            </a:pPr>
            <a:r>
              <a:rPr lang="en-US" sz="1400" dirty="0">
                <a:solidFill>
                  <a:schemeClr val="tx1"/>
                </a:solidFill>
              </a:rPr>
              <a:t>Block B, Lecture Hall 204 sends 3.2 kW every minute.</a:t>
            </a:r>
            <a:endParaRPr lang="en-US" sz="1400" dirty="0"/>
          </a:p>
        </p:txBody>
      </p:sp>
      <p:sp>
        <p:nvSpPr>
          <p:cNvPr id="8" name="StepCard2"/>
          <p:cNvSpPr/>
          <p:nvPr/>
        </p:nvSpPr>
        <p:spPr>
          <a:xfrm>
            <a:off x="4297680" y="1371600"/>
            <a:ext cx="3566160" cy="1691640"/>
          </a:xfrm>
          <a:prstGeom prst="roundRect">
            <a:avLst>
              <a:gd name="adj" fmla="val 6486"/>
            </a:avLst>
          </a:prstGeom>
          <a:solidFill>
            <a:schemeClr val="bg2"/>
          </a:solidFill>
          <a:ln w="12700">
            <a:solidFill>
              <a:schemeClr val="bg2"/>
            </a:solidFill>
            <a:prstDash val="solid"/>
          </a:ln>
          <a:effectLst>
            <a:outerShdw blurRad="76200" dist="25400" dir="5400000" algn="bl" rotWithShape="0">
              <a:srgbClr val="000000">
                <a:alpha val="10000"/>
              </a:srgbClr>
            </a:outerShdw>
          </a:effectLst>
        </p:spPr>
      </p:sp>
      <p:sp>
        <p:nvSpPr>
          <p:cNvPr id="9" name="Shape 7"/>
          <p:cNvSpPr/>
          <p:nvPr/>
        </p:nvSpPr>
        <p:spPr>
          <a:xfrm>
            <a:off x="4526280" y="1600200"/>
            <a:ext cx="502920" cy="502920"/>
          </a:xfrm>
          <a:prstGeom prst="ellipse">
            <a:avLst/>
          </a:prstGeom>
          <a:solidFill>
            <a:schemeClr val="accent1"/>
          </a:solidFill>
          <a:ln w="12700">
            <a:solidFill>
              <a:schemeClr val="accent1"/>
            </a:solidFill>
            <a:prstDash val="solid"/>
          </a:ln>
        </p:spPr>
      </p:sp>
      <p:sp>
        <p:nvSpPr>
          <p:cNvPr id="10" name="Text 8"/>
          <p:cNvSpPr txBox="1"/>
          <p:nvPr/>
        </p:nvSpPr>
        <p:spPr>
          <a:xfrm>
            <a:off x="4526280" y="160020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1" name="Text 9"/>
          <p:cNvSpPr txBox="1"/>
          <p:nvPr/>
        </p:nvSpPr>
        <p:spPr>
          <a:xfrm>
            <a:off x="5166360" y="1600200"/>
            <a:ext cx="2560320" cy="502920"/>
          </a:xfrm>
          <a:prstGeom prst="rect">
            <a:avLst/>
          </a:prstGeom>
          <a:noFill/>
          <a:ln/>
        </p:spPr>
        <p:txBody>
          <a:bodyPr wrap="square" lIns="0" tIns="0" rIns="0" bIns="0" rtlCol="0" anchor="ctr"/>
          <a:lstStyle/>
          <a:p>
            <a:pPr marL="0" indent="0" algn="l">
              <a:buNone/>
            </a:pPr>
            <a:r>
              <a:rPr lang="en-US" sz="1800" b="1" dirty="0">
                <a:solidFill>
                  <a:schemeClr val="tx2"/>
                </a:solidFill>
              </a:rPr>
              <a:t>Timetable check</a:t>
            </a:r>
            <a:endParaRPr lang="en-US" sz="1800" dirty="0"/>
          </a:p>
        </p:txBody>
      </p:sp>
      <p:sp>
        <p:nvSpPr>
          <p:cNvPr id="12" name="Text 10"/>
          <p:cNvSpPr txBox="1"/>
          <p:nvPr/>
        </p:nvSpPr>
        <p:spPr>
          <a:xfrm>
            <a:off x="4526280" y="2240280"/>
            <a:ext cx="3108960" cy="731520"/>
          </a:xfrm>
          <a:prstGeom prst="rect">
            <a:avLst/>
          </a:prstGeom>
          <a:noFill/>
          <a:ln/>
        </p:spPr>
        <p:txBody>
          <a:bodyPr wrap="square" lIns="0" tIns="0" rIns="0" bIns="0" rtlCol="0" anchor="t"/>
          <a:lstStyle/>
          <a:p>
            <a:pPr marL="0" indent="0" algn="l">
              <a:buNone/>
            </a:pPr>
            <a:r>
              <a:rPr lang="en-US" sz="1400" dirty="0">
                <a:solidFill>
                  <a:schemeClr val="tx1"/>
                </a:solidFill>
              </a:rPr>
              <a:t>No class and no booking in the room until Monday.</a:t>
            </a:r>
            <a:endParaRPr lang="en-US" sz="1400" dirty="0"/>
          </a:p>
        </p:txBody>
      </p:sp>
      <p:sp>
        <p:nvSpPr>
          <p:cNvPr id="13" name="StepCard3"/>
          <p:cNvSpPr/>
          <p:nvPr/>
        </p:nvSpPr>
        <p:spPr>
          <a:xfrm>
            <a:off x="8046720" y="1371600"/>
            <a:ext cx="3566160" cy="1691640"/>
          </a:xfrm>
          <a:prstGeom prst="roundRect">
            <a:avLst>
              <a:gd name="adj" fmla="val 6486"/>
            </a:avLst>
          </a:prstGeom>
          <a:solidFill>
            <a:schemeClr val="bg2"/>
          </a:solidFill>
          <a:ln w="12700">
            <a:solidFill>
              <a:schemeClr val="bg2"/>
            </a:solidFill>
            <a:prstDash val="solid"/>
          </a:ln>
          <a:effectLst>
            <a:outerShdw blurRad="76200" dist="25400" dir="5400000" algn="bl" rotWithShape="0">
              <a:srgbClr val="000000">
                <a:alpha val="10000"/>
              </a:srgbClr>
            </a:outerShdw>
          </a:effectLst>
        </p:spPr>
      </p:sp>
      <p:sp>
        <p:nvSpPr>
          <p:cNvPr id="14" name="Shape 12"/>
          <p:cNvSpPr/>
          <p:nvPr/>
        </p:nvSpPr>
        <p:spPr>
          <a:xfrm>
            <a:off x="8275320" y="1600200"/>
            <a:ext cx="502920" cy="502920"/>
          </a:xfrm>
          <a:prstGeom prst="ellipse">
            <a:avLst/>
          </a:prstGeom>
          <a:solidFill>
            <a:schemeClr val="accent1"/>
          </a:solidFill>
          <a:ln w="12700">
            <a:solidFill>
              <a:schemeClr val="accent1"/>
            </a:solidFill>
            <a:prstDash val="solid"/>
          </a:ln>
        </p:spPr>
      </p:sp>
      <p:sp>
        <p:nvSpPr>
          <p:cNvPr id="15" name="Text 13"/>
          <p:cNvSpPr txBox="1"/>
          <p:nvPr/>
        </p:nvSpPr>
        <p:spPr>
          <a:xfrm>
            <a:off x="8275320" y="160020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6" name="Text 14"/>
          <p:cNvSpPr txBox="1"/>
          <p:nvPr/>
        </p:nvSpPr>
        <p:spPr>
          <a:xfrm>
            <a:off x="8915400" y="1600200"/>
            <a:ext cx="2560320" cy="502920"/>
          </a:xfrm>
          <a:prstGeom prst="rect">
            <a:avLst/>
          </a:prstGeom>
          <a:noFill/>
          <a:ln/>
        </p:spPr>
        <p:txBody>
          <a:bodyPr wrap="square" lIns="0" tIns="0" rIns="0" bIns="0" rtlCol="0" anchor="ctr"/>
          <a:lstStyle/>
          <a:p>
            <a:pPr marL="0" indent="0" algn="l">
              <a:buNone/>
            </a:pPr>
            <a:r>
              <a:rPr lang="en-US" sz="1800" b="1" dirty="0">
                <a:solidFill>
                  <a:schemeClr val="tx2"/>
                </a:solidFill>
              </a:rPr>
              <a:t>Weather check</a:t>
            </a:r>
            <a:endParaRPr lang="en-US" sz="1800" dirty="0"/>
          </a:p>
        </p:txBody>
      </p:sp>
      <p:sp>
        <p:nvSpPr>
          <p:cNvPr id="17" name="Text 15"/>
          <p:cNvSpPr txBox="1"/>
          <p:nvPr/>
        </p:nvSpPr>
        <p:spPr>
          <a:xfrm>
            <a:off x="8275320" y="2240280"/>
            <a:ext cx="3108960" cy="731520"/>
          </a:xfrm>
          <a:prstGeom prst="rect">
            <a:avLst/>
          </a:prstGeom>
          <a:noFill/>
          <a:ln/>
        </p:spPr>
        <p:txBody>
          <a:bodyPr wrap="square" lIns="0" tIns="0" rIns="0" bIns="0" rtlCol="0" anchor="t"/>
          <a:lstStyle/>
          <a:p>
            <a:pPr marL="0" indent="0" algn="l">
              <a:buNone/>
            </a:pPr>
            <a:r>
              <a:rPr lang="en-US" sz="1400" dirty="0">
                <a:solidFill>
                  <a:schemeClr val="tx1"/>
                </a:solidFill>
              </a:rPr>
              <a:t>24 C outside, so no cooling is needed.</a:t>
            </a:r>
            <a:endParaRPr lang="en-US" sz="1400" dirty="0"/>
          </a:p>
        </p:txBody>
      </p:sp>
      <p:sp>
        <p:nvSpPr>
          <p:cNvPr id="18" name="StepCard4"/>
          <p:cNvSpPr/>
          <p:nvPr/>
        </p:nvSpPr>
        <p:spPr>
          <a:xfrm>
            <a:off x="548640" y="3246120"/>
            <a:ext cx="3566160" cy="1691640"/>
          </a:xfrm>
          <a:prstGeom prst="roundRect">
            <a:avLst>
              <a:gd name="adj" fmla="val 6486"/>
            </a:avLst>
          </a:prstGeom>
          <a:solidFill>
            <a:schemeClr val="bg2"/>
          </a:solidFill>
          <a:ln w="12700">
            <a:solidFill>
              <a:schemeClr val="bg2"/>
            </a:solidFill>
            <a:prstDash val="solid"/>
          </a:ln>
          <a:effectLst>
            <a:outerShdw blurRad="76200" dist="25400" dir="5400000" algn="bl" rotWithShape="0">
              <a:srgbClr val="000000">
                <a:alpha val="10000"/>
              </a:srgbClr>
            </a:outerShdw>
          </a:effectLst>
        </p:spPr>
      </p:sp>
      <p:sp>
        <p:nvSpPr>
          <p:cNvPr id="19" name="Shape 17"/>
          <p:cNvSpPr/>
          <p:nvPr/>
        </p:nvSpPr>
        <p:spPr>
          <a:xfrm>
            <a:off x="777240" y="3474720"/>
            <a:ext cx="502920" cy="502920"/>
          </a:xfrm>
          <a:prstGeom prst="ellipse">
            <a:avLst/>
          </a:prstGeom>
          <a:solidFill>
            <a:schemeClr val="accent4"/>
          </a:solidFill>
          <a:ln w="12700">
            <a:solidFill>
              <a:schemeClr val="accent4"/>
            </a:solidFill>
            <a:prstDash val="solid"/>
          </a:ln>
        </p:spPr>
      </p:sp>
      <p:sp>
        <p:nvSpPr>
          <p:cNvPr id="20" name="Text 18"/>
          <p:cNvSpPr txBox="1"/>
          <p:nvPr/>
        </p:nvSpPr>
        <p:spPr>
          <a:xfrm>
            <a:off x="777240" y="347472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1" name="Text 19"/>
          <p:cNvSpPr txBox="1"/>
          <p:nvPr/>
        </p:nvSpPr>
        <p:spPr>
          <a:xfrm>
            <a:off x="1417320" y="3474720"/>
            <a:ext cx="2560320" cy="502920"/>
          </a:xfrm>
          <a:prstGeom prst="rect">
            <a:avLst/>
          </a:prstGeom>
          <a:noFill/>
          <a:ln/>
        </p:spPr>
        <p:txBody>
          <a:bodyPr wrap="square" lIns="0" tIns="0" rIns="0" bIns="0" rtlCol="0" anchor="ctr"/>
          <a:lstStyle/>
          <a:p>
            <a:pPr marL="0" indent="0" algn="l">
              <a:buNone/>
            </a:pPr>
            <a:r>
              <a:rPr lang="en-US" sz="1800" b="1" dirty="0">
                <a:solidFill>
                  <a:schemeClr val="tx2"/>
                </a:solidFill>
              </a:rPr>
              <a:t>Anomaly detected</a:t>
            </a:r>
            <a:endParaRPr lang="en-US" sz="1800" dirty="0"/>
          </a:p>
        </p:txBody>
      </p:sp>
      <p:sp>
        <p:nvSpPr>
          <p:cNvPr id="22" name="Text 20"/>
          <p:cNvSpPr txBox="1"/>
          <p:nvPr/>
        </p:nvSpPr>
        <p:spPr>
          <a:xfrm>
            <a:off x="777240" y="4114800"/>
            <a:ext cx="3108960" cy="731520"/>
          </a:xfrm>
          <a:prstGeom prst="rect">
            <a:avLst/>
          </a:prstGeom>
          <a:noFill/>
          <a:ln/>
        </p:spPr>
        <p:txBody>
          <a:bodyPr wrap="square" lIns="0" tIns="0" rIns="0" bIns="0" rtlCol="0" anchor="t"/>
          <a:lstStyle/>
          <a:p>
            <a:pPr marL="0" indent="0" algn="l">
              <a:buNone/>
            </a:pPr>
            <a:r>
              <a:rPr lang="en-US" sz="1400" dirty="0">
                <a:solidFill>
                  <a:schemeClr val="tx1"/>
                </a:solidFill>
              </a:rPr>
              <a:t>Learned night baseline is about 0.1 kW. Room flagged: AC or lights left on.</a:t>
            </a:r>
            <a:endParaRPr lang="en-US" sz="1400" dirty="0"/>
          </a:p>
        </p:txBody>
      </p:sp>
      <p:sp>
        <p:nvSpPr>
          <p:cNvPr id="23" name="StepCard5"/>
          <p:cNvSpPr/>
          <p:nvPr/>
        </p:nvSpPr>
        <p:spPr>
          <a:xfrm>
            <a:off x="4297680" y="3246120"/>
            <a:ext cx="3566160" cy="1691640"/>
          </a:xfrm>
          <a:prstGeom prst="roundRect">
            <a:avLst>
              <a:gd name="adj" fmla="val 6486"/>
            </a:avLst>
          </a:prstGeom>
          <a:solidFill>
            <a:schemeClr val="bg2"/>
          </a:solidFill>
          <a:ln w="12700">
            <a:solidFill>
              <a:schemeClr val="bg2"/>
            </a:solidFill>
            <a:prstDash val="solid"/>
          </a:ln>
          <a:effectLst>
            <a:outerShdw blurRad="76200" dist="25400" dir="5400000" algn="bl" rotWithShape="0">
              <a:srgbClr val="000000">
                <a:alpha val="10000"/>
              </a:srgbClr>
            </a:outerShdw>
          </a:effectLst>
        </p:spPr>
      </p:sp>
      <p:sp>
        <p:nvSpPr>
          <p:cNvPr id="24" name="Shape 22"/>
          <p:cNvSpPr/>
          <p:nvPr/>
        </p:nvSpPr>
        <p:spPr>
          <a:xfrm>
            <a:off x="4526280" y="3474720"/>
            <a:ext cx="502920" cy="502920"/>
          </a:xfrm>
          <a:prstGeom prst="ellipse">
            <a:avLst/>
          </a:prstGeom>
          <a:solidFill>
            <a:schemeClr val="accent1"/>
          </a:solidFill>
          <a:ln w="12700">
            <a:solidFill>
              <a:schemeClr val="accent1"/>
            </a:solidFill>
            <a:prstDash val="solid"/>
          </a:ln>
        </p:spPr>
      </p:sp>
      <p:sp>
        <p:nvSpPr>
          <p:cNvPr id="25" name="Text 23"/>
          <p:cNvSpPr txBox="1"/>
          <p:nvPr/>
        </p:nvSpPr>
        <p:spPr>
          <a:xfrm>
            <a:off x="4526280" y="347472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26" name="Text 24"/>
          <p:cNvSpPr txBox="1"/>
          <p:nvPr/>
        </p:nvSpPr>
        <p:spPr>
          <a:xfrm>
            <a:off x="5166360" y="3474720"/>
            <a:ext cx="2560320" cy="502920"/>
          </a:xfrm>
          <a:prstGeom prst="rect">
            <a:avLst/>
          </a:prstGeom>
          <a:noFill/>
          <a:ln/>
        </p:spPr>
        <p:txBody>
          <a:bodyPr wrap="square" lIns="0" tIns="0" rIns="0" bIns="0" rtlCol="0" anchor="ctr"/>
          <a:lstStyle/>
          <a:p>
            <a:pPr marL="0" indent="0" algn="l">
              <a:buNone/>
            </a:pPr>
            <a:r>
              <a:rPr lang="en-US" sz="1800" b="1" dirty="0">
                <a:solidFill>
                  <a:schemeClr val="tx2"/>
                </a:solidFill>
              </a:rPr>
              <a:t>Alert sent</a:t>
            </a:r>
            <a:endParaRPr lang="en-US" sz="1800" dirty="0"/>
          </a:p>
        </p:txBody>
      </p:sp>
      <p:sp>
        <p:nvSpPr>
          <p:cNvPr id="27" name="Text 25"/>
          <p:cNvSpPr txBox="1"/>
          <p:nvPr/>
        </p:nvSpPr>
        <p:spPr>
          <a:xfrm>
            <a:off x="4526280" y="4114800"/>
            <a:ext cx="3108960" cy="731520"/>
          </a:xfrm>
          <a:prstGeom prst="rect">
            <a:avLst/>
          </a:prstGeom>
          <a:noFill/>
          <a:ln/>
        </p:spPr>
        <p:txBody>
          <a:bodyPr wrap="square" lIns="0" tIns="0" rIns="0" bIns="0" rtlCol="0" anchor="t"/>
          <a:lstStyle/>
          <a:p>
            <a:pPr marL="0" indent="0" algn="l">
              <a:buNone/>
            </a:pPr>
            <a:r>
              <a:rPr lang="en-US" sz="1400" dirty="0">
                <a:solidFill>
                  <a:schemeClr val="tx1"/>
                </a:solidFill>
              </a:rPr>
              <a:t>Facility manager gets a dashboard alert and an email, then switches the room off.</a:t>
            </a:r>
            <a:endParaRPr lang="en-US" sz="1400" dirty="0"/>
          </a:p>
        </p:txBody>
      </p:sp>
      <p:sp>
        <p:nvSpPr>
          <p:cNvPr id="28" name="StepCard6"/>
          <p:cNvSpPr/>
          <p:nvPr/>
        </p:nvSpPr>
        <p:spPr>
          <a:xfrm>
            <a:off x="8046720" y="3246120"/>
            <a:ext cx="3566160" cy="1691640"/>
          </a:xfrm>
          <a:prstGeom prst="roundRect">
            <a:avLst>
              <a:gd name="adj" fmla="val 6486"/>
            </a:avLst>
          </a:prstGeom>
          <a:solidFill>
            <a:schemeClr val="bg2"/>
          </a:solidFill>
          <a:ln w="12700">
            <a:solidFill>
              <a:schemeClr val="bg2"/>
            </a:solidFill>
            <a:prstDash val="solid"/>
          </a:ln>
          <a:effectLst>
            <a:outerShdw blurRad="76200" dist="25400" dir="5400000" algn="bl" rotWithShape="0">
              <a:srgbClr val="000000">
                <a:alpha val="10000"/>
              </a:srgbClr>
            </a:outerShdw>
          </a:effectLst>
        </p:spPr>
      </p:sp>
      <p:sp>
        <p:nvSpPr>
          <p:cNvPr id="29" name="Shape 27"/>
          <p:cNvSpPr/>
          <p:nvPr/>
        </p:nvSpPr>
        <p:spPr>
          <a:xfrm>
            <a:off x="8275320" y="3474720"/>
            <a:ext cx="502920" cy="502920"/>
          </a:xfrm>
          <a:prstGeom prst="ellipse">
            <a:avLst/>
          </a:prstGeom>
          <a:solidFill>
            <a:schemeClr val="accent1"/>
          </a:solidFill>
          <a:ln w="12700">
            <a:solidFill>
              <a:schemeClr val="accent1"/>
            </a:solidFill>
            <a:prstDash val="solid"/>
          </a:ln>
        </p:spPr>
      </p:sp>
      <p:sp>
        <p:nvSpPr>
          <p:cNvPr id="30" name="Text 28"/>
          <p:cNvSpPr txBox="1"/>
          <p:nvPr/>
        </p:nvSpPr>
        <p:spPr>
          <a:xfrm>
            <a:off x="8275320" y="347472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6</a:t>
            </a:r>
            <a:endParaRPr lang="en-US" sz="1800" dirty="0"/>
          </a:p>
        </p:txBody>
      </p:sp>
      <p:sp>
        <p:nvSpPr>
          <p:cNvPr id="31" name="Text 29"/>
          <p:cNvSpPr txBox="1"/>
          <p:nvPr/>
        </p:nvSpPr>
        <p:spPr>
          <a:xfrm>
            <a:off x="8915400" y="3474720"/>
            <a:ext cx="2560320" cy="502920"/>
          </a:xfrm>
          <a:prstGeom prst="rect">
            <a:avLst/>
          </a:prstGeom>
          <a:noFill/>
          <a:ln/>
        </p:spPr>
        <p:txBody>
          <a:bodyPr wrap="square" lIns="0" tIns="0" rIns="0" bIns="0" rtlCol="0" anchor="ctr"/>
          <a:lstStyle/>
          <a:p>
            <a:pPr marL="0" indent="0" algn="l">
              <a:buNone/>
            </a:pPr>
            <a:r>
              <a:rPr lang="en-US" sz="1800" b="1" dirty="0">
                <a:solidFill>
                  <a:schemeClr val="tx2"/>
                </a:solidFill>
              </a:rPr>
              <a:t>Savings logged</a:t>
            </a:r>
            <a:endParaRPr lang="en-US" sz="1800" dirty="0"/>
          </a:p>
        </p:txBody>
      </p:sp>
      <p:sp>
        <p:nvSpPr>
          <p:cNvPr id="32" name="Text 30"/>
          <p:cNvSpPr txBox="1"/>
          <p:nvPr/>
        </p:nvSpPr>
        <p:spPr>
          <a:xfrm>
            <a:off x="8275320" y="4114800"/>
            <a:ext cx="3108960" cy="731520"/>
          </a:xfrm>
          <a:prstGeom prst="rect">
            <a:avLst/>
          </a:prstGeom>
          <a:noFill/>
          <a:ln/>
        </p:spPr>
        <p:txBody>
          <a:bodyPr wrap="square" lIns="0" tIns="0" rIns="0" bIns="0" rtlCol="0" anchor="t"/>
          <a:lstStyle/>
          <a:p>
            <a:pPr marL="0" indent="0" algn="l">
              <a:buNone/>
            </a:pPr>
            <a:r>
              <a:rPr lang="en-US" sz="1400" dirty="0">
                <a:solidFill>
                  <a:schemeClr val="tx1"/>
                </a:solidFill>
              </a:rPr>
              <a:t>3.1 kW x 8 hrs = 24.8 kWh saved, counted in the audit.</a:t>
            </a:r>
            <a:endParaRPr lang="en-US" sz="1400" dirty="0"/>
          </a:p>
        </p:txBody>
      </p:sp>
      <p:sp>
        <p:nvSpPr>
          <p:cNvPr id="33" name="AuditResultBanner"/>
          <p:cNvSpPr/>
          <p:nvPr/>
        </p:nvSpPr>
        <p:spPr>
          <a:xfrm>
            <a:off x="548640" y="5257800"/>
            <a:ext cx="11064240" cy="960120"/>
          </a:xfrm>
          <a:prstGeom prst="roundRect">
            <a:avLst>
              <a:gd name="adj" fmla="val 11429"/>
            </a:avLst>
          </a:prstGeom>
          <a:solidFill>
            <a:schemeClr val="tx2"/>
          </a:solidFill>
          <a:ln w="12700">
            <a:solidFill>
              <a:schemeClr val="tx2"/>
            </a:solidFill>
            <a:prstDash val="solid"/>
          </a:ln>
        </p:spPr>
      </p:sp>
      <p:sp>
        <p:nvSpPr>
          <p:cNvPr id="34" name="Text 32"/>
          <p:cNvSpPr txBox="1"/>
          <p:nvPr/>
        </p:nvSpPr>
        <p:spPr>
          <a:xfrm>
            <a:off x="822960" y="5257800"/>
            <a:ext cx="10515600" cy="960120"/>
          </a:xfrm>
          <a:prstGeom prst="rect">
            <a:avLst/>
          </a:prstGeom>
          <a:noFill/>
          <a:ln/>
        </p:spPr>
        <p:txBody>
          <a:bodyPr wrap="square" lIns="0" tIns="0" rIns="0" bIns="0" rtlCol="0" anchor="ctr"/>
          <a:lstStyle/>
          <a:p>
            <a:pPr marL="0" indent="0" algn="l">
              <a:buNone/>
            </a:pPr>
            <a:r>
              <a:rPr lang="en-US" sz="1800" b="1" dirty="0">
                <a:solidFill>
                  <a:schemeClr val="accent2"/>
                </a:solidFill>
              </a:rPr>
              <a:t>Monthly audit result:  </a:t>
            </a:r>
            <a:r>
              <a:rPr lang="en-US" sz="1800" dirty="0">
                <a:solidFill>
                  <a:schemeClr val="bg1"/>
                </a:solidFill>
              </a:rPr>
              <a:t>Block B wastes 18% of its energy outside class hours, and Hostel C shows a night-time spike on weekends.</a:t>
            </a:r>
            <a:endParaRPr lang="en-US" sz="1800" dirty="0"/>
          </a:p>
        </p:txBody>
      </p:sp>
      <p:sp>
        <p:nvSpPr>
          <p:cNvPr id="3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1"/>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chemeClr val="tx2"/>
                </a:solidFill>
              </a:rPr>
              <a:t>System architecture</a:t>
            </a:r>
            <a:endParaRPr lang="en-US" sz="3600" dirty="0"/>
          </a:p>
        </p:txBody>
      </p:sp>
      <p:sp>
        <p:nvSpPr>
          <p:cNvPr id="3" name="ArchBox1"/>
          <p:cNvSpPr/>
          <p:nvPr/>
        </p:nvSpPr>
        <p:spPr>
          <a:xfrm>
            <a:off x="548640" y="1463040"/>
            <a:ext cx="1600200" cy="1097280"/>
          </a:xfrm>
          <a:prstGeom prst="roundRect">
            <a:avLst>
              <a:gd name="adj" fmla="val 8333"/>
            </a:avLst>
          </a:prstGeom>
          <a:solidFill>
            <a:schemeClr val="accent1"/>
          </a:solidFill>
          <a:ln w="12700">
            <a:solidFill>
              <a:schemeClr val="accent1"/>
            </a:solidFill>
            <a:prstDash val="solid"/>
          </a:ln>
          <a:effectLst>
            <a:outerShdw blurRad="76200" dist="25400" dir="5400000" algn="bl" rotWithShape="0">
              <a:srgbClr val="000000">
                <a:alpha val="10000"/>
              </a:srgbClr>
            </a:outerShdw>
          </a:effectLst>
        </p:spPr>
      </p:sp>
      <p:sp>
        <p:nvSpPr>
          <p:cNvPr id="4" name="Text 2"/>
          <p:cNvSpPr txBox="1"/>
          <p:nvPr/>
        </p:nvSpPr>
        <p:spPr>
          <a:xfrm>
            <a:off x="640080" y="1463040"/>
            <a:ext cx="1417320" cy="1097280"/>
          </a:xfrm>
          <a:prstGeom prst="rect">
            <a:avLst/>
          </a:prstGeom>
          <a:noFill/>
          <a:ln/>
        </p:spPr>
        <p:txBody>
          <a:bodyPr wrap="square" lIns="0" tIns="0" rIns="0" bIns="0" rtlCol="0" anchor="ctr"/>
          <a:lstStyle/>
          <a:p>
            <a:pPr marL="0" indent="0" algn="ctr">
              <a:buNone/>
            </a:pPr>
            <a:r>
              <a:rPr lang="en-US" sz="1600" b="1" dirty="0">
                <a:solidFill>
                  <a:schemeClr val="bg1"/>
                </a:solidFill>
              </a:rPr>
              <a:t>Data sources</a:t>
            </a:r>
            <a:endParaRPr lang="en-US" sz="1600" dirty="0"/>
          </a:p>
        </p:txBody>
      </p:sp>
      <p:sp>
        <p:nvSpPr>
          <p:cNvPr id="5" name="Text 3"/>
          <p:cNvSpPr txBox="1"/>
          <p:nvPr/>
        </p:nvSpPr>
        <p:spPr>
          <a:xfrm>
            <a:off x="502920" y="2743200"/>
            <a:ext cx="1691640" cy="1554480"/>
          </a:xfrm>
          <a:prstGeom prst="rect">
            <a:avLst/>
          </a:prstGeom>
          <a:noFill/>
          <a:ln/>
        </p:spPr>
        <p:txBody>
          <a:bodyPr wrap="square" lIns="0" tIns="0" rIns="0" bIns="0" rtlCol="0" anchor="t"/>
          <a:lstStyle/>
          <a:p>
            <a:pPr marL="0" indent="0" algn="l">
              <a:buNone/>
            </a:pPr>
            <a:r>
              <a:rPr lang="en-US" sz="1300" dirty="0">
                <a:solidFill>
                  <a:schemeClr val="tx1"/>
                </a:solidFill>
              </a:rPr>
              <a:t>Simulator, CSV uploads, weather API, timetable</a:t>
            </a:r>
            <a:endParaRPr lang="en-US" sz="1300" dirty="0"/>
          </a:p>
        </p:txBody>
      </p:sp>
      <p:sp>
        <p:nvSpPr>
          <p:cNvPr id="6" name="Shape 4"/>
          <p:cNvSpPr/>
          <p:nvPr/>
        </p:nvSpPr>
        <p:spPr>
          <a:xfrm>
            <a:off x="2176272" y="2011680"/>
            <a:ext cx="237744" cy="0"/>
          </a:xfrm>
          <a:prstGeom prst="line">
            <a:avLst/>
          </a:prstGeom>
          <a:noFill/>
          <a:ln w="31750">
            <a:solidFill>
              <a:schemeClr val="accent2"/>
            </a:solidFill>
            <a:prstDash val="solid"/>
            <a:tailEnd type="triangle"/>
          </a:ln>
        </p:spPr>
      </p:sp>
      <p:sp>
        <p:nvSpPr>
          <p:cNvPr id="7" name="ArchBox2"/>
          <p:cNvSpPr/>
          <p:nvPr/>
        </p:nvSpPr>
        <p:spPr>
          <a:xfrm>
            <a:off x="2441448" y="1463040"/>
            <a:ext cx="1600200" cy="1097280"/>
          </a:xfrm>
          <a:prstGeom prst="roundRect">
            <a:avLst>
              <a:gd name="adj" fmla="val 8333"/>
            </a:avLst>
          </a:prstGeom>
          <a:solidFill>
            <a:schemeClr val="accent1"/>
          </a:solidFill>
          <a:ln w="12700">
            <a:solidFill>
              <a:schemeClr val="accent1"/>
            </a:solidFill>
            <a:prstDash val="solid"/>
          </a:ln>
          <a:effectLst>
            <a:outerShdw blurRad="76200" dist="25400" dir="5400000" algn="bl" rotWithShape="0">
              <a:srgbClr val="000000">
                <a:alpha val="10000"/>
              </a:srgbClr>
            </a:outerShdw>
          </a:effectLst>
        </p:spPr>
      </p:sp>
      <p:sp>
        <p:nvSpPr>
          <p:cNvPr id="8" name="Text 6"/>
          <p:cNvSpPr txBox="1"/>
          <p:nvPr/>
        </p:nvSpPr>
        <p:spPr>
          <a:xfrm>
            <a:off x="2532888" y="1463040"/>
            <a:ext cx="1417320" cy="1097280"/>
          </a:xfrm>
          <a:prstGeom prst="rect">
            <a:avLst/>
          </a:prstGeom>
          <a:noFill/>
          <a:ln/>
        </p:spPr>
        <p:txBody>
          <a:bodyPr wrap="square" lIns="0" tIns="0" rIns="0" bIns="0" rtlCol="0" anchor="ctr"/>
          <a:lstStyle/>
          <a:p>
            <a:pPr marL="0" indent="0" algn="ctr">
              <a:buNone/>
            </a:pPr>
            <a:r>
              <a:rPr lang="en-US" sz="1600" b="1" dirty="0">
                <a:solidFill>
                  <a:schemeClr val="bg1"/>
                </a:solidFill>
              </a:rPr>
              <a:t>Ingestion API</a:t>
            </a:r>
            <a:endParaRPr lang="en-US" sz="1600" dirty="0"/>
          </a:p>
        </p:txBody>
      </p:sp>
      <p:sp>
        <p:nvSpPr>
          <p:cNvPr id="9" name="Text 7"/>
          <p:cNvSpPr txBox="1"/>
          <p:nvPr/>
        </p:nvSpPr>
        <p:spPr>
          <a:xfrm>
            <a:off x="2395728" y="2743200"/>
            <a:ext cx="1691640" cy="1554480"/>
          </a:xfrm>
          <a:prstGeom prst="rect">
            <a:avLst/>
          </a:prstGeom>
          <a:noFill/>
          <a:ln/>
        </p:spPr>
        <p:txBody>
          <a:bodyPr wrap="square" lIns="0" tIns="0" rIns="0" bIns="0" rtlCol="0" anchor="t"/>
          <a:lstStyle/>
          <a:p>
            <a:pPr marL="0" indent="0" algn="l">
              <a:buNone/>
            </a:pPr>
            <a:r>
              <a:rPr lang="en-US" sz="1300" dirty="0">
                <a:solidFill>
                  <a:schemeClr val="tx1"/>
                </a:solidFill>
              </a:rPr>
              <a:t>Validates, rate-limits and batches. Stateless, so it scales horizontally</a:t>
            </a:r>
            <a:endParaRPr lang="en-US" sz="1300" dirty="0"/>
          </a:p>
        </p:txBody>
      </p:sp>
      <p:sp>
        <p:nvSpPr>
          <p:cNvPr id="10" name="Shape 8"/>
          <p:cNvSpPr/>
          <p:nvPr/>
        </p:nvSpPr>
        <p:spPr>
          <a:xfrm>
            <a:off x="4069080" y="2011680"/>
            <a:ext cx="237744" cy="0"/>
          </a:xfrm>
          <a:prstGeom prst="line">
            <a:avLst/>
          </a:prstGeom>
          <a:noFill/>
          <a:ln w="31750">
            <a:solidFill>
              <a:schemeClr val="accent2"/>
            </a:solidFill>
            <a:prstDash val="solid"/>
            <a:tailEnd type="triangle"/>
          </a:ln>
        </p:spPr>
      </p:sp>
      <p:sp>
        <p:nvSpPr>
          <p:cNvPr id="11" name="ArchBox3"/>
          <p:cNvSpPr/>
          <p:nvPr/>
        </p:nvSpPr>
        <p:spPr>
          <a:xfrm>
            <a:off x="4334256" y="1463040"/>
            <a:ext cx="1600200" cy="1097280"/>
          </a:xfrm>
          <a:prstGeom prst="roundRect">
            <a:avLst>
              <a:gd name="adj" fmla="val 8333"/>
            </a:avLst>
          </a:prstGeom>
          <a:solidFill>
            <a:schemeClr val="accent1"/>
          </a:solidFill>
          <a:ln w="12700">
            <a:solidFill>
              <a:schemeClr val="accent1"/>
            </a:solidFill>
            <a:prstDash val="solid"/>
          </a:ln>
          <a:effectLst>
            <a:outerShdw blurRad="76200" dist="25400" dir="5400000" algn="bl" rotWithShape="0">
              <a:srgbClr val="000000">
                <a:alpha val="10000"/>
              </a:srgbClr>
            </a:outerShdw>
          </a:effectLst>
        </p:spPr>
      </p:sp>
      <p:sp>
        <p:nvSpPr>
          <p:cNvPr id="12" name="Text 10"/>
          <p:cNvSpPr txBox="1"/>
          <p:nvPr/>
        </p:nvSpPr>
        <p:spPr>
          <a:xfrm>
            <a:off x="4425696" y="1463040"/>
            <a:ext cx="1417320" cy="1097280"/>
          </a:xfrm>
          <a:prstGeom prst="rect">
            <a:avLst/>
          </a:prstGeom>
          <a:noFill/>
          <a:ln/>
        </p:spPr>
        <p:txBody>
          <a:bodyPr wrap="square" lIns="0" tIns="0" rIns="0" bIns="0" rtlCol="0" anchor="ctr"/>
          <a:lstStyle/>
          <a:p>
            <a:pPr marL="0" indent="0" algn="ctr">
              <a:buNone/>
            </a:pPr>
            <a:r>
              <a:rPr lang="en-US" sz="1600" b="1" dirty="0">
                <a:solidFill>
                  <a:schemeClr val="bg1"/>
                </a:solidFill>
              </a:rPr>
              <a:t>Message queue</a:t>
            </a:r>
            <a:endParaRPr lang="en-US" sz="1600" dirty="0"/>
          </a:p>
        </p:txBody>
      </p:sp>
      <p:sp>
        <p:nvSpPr>
          <p:cNvPr id="13" name="Text 11"/>
          <p:cNvSpPr txBox="1"/>
          <p:nvPr/>
        </p:nvSpPr>
        <p:spPr>
          <a:xfrm>
            <a:off x="4288536" y="2743200"/>
            <a:ext cx="1691640" cy="1554480"/>
          </a:xfrm>
          <a:prstGeom prst="rect">
            <a:avLst/>
          </a:prstGeom>
          <a:noFill/>
          <a:ln/>
        </p:spPr>
        <p:txBody>
          <a:bodyPr wrap="square" lIns="0" tIns="0" rIns="0" bIns="0" rtlCol="0" anchor="t"/>
          <a:lstStyle/>
          <a:p>
            <a:pPr marL="0" indent="0" algn="l">
              <a:buNone/>
            </a:pPr>
            <a:r>
              <a:rPr lang="en-US" sz="1300" dirty="0">
                <a:solidFill>
                  <a:schemeClr val="tx1"/>
                </a:solidFill>
              </a:rPr>
              <a:t>Kafka or RabbitMQ. Absorbs spikes, gives back-pressure and replay</a:t>
            </a:r>
            <a:endParaRPr lang="en-US" sz="1300" dirty="0"/>
          </a:p>
        </p:txBody>
      </p:sp>
      <p:sp>
        <p:nvSpPr>
          <p:cNvPr id="14" name="Shape 12"/>
          <p:cNvSpPr/>
          <p:nvPr/>
        </p:nvSpPr>
        <p:spPr>
          <a:xfrm>
            <a:off x="5961888" y="2011680"/>
            <a:ext cx="237744" cy="0"/>
          </a:xfrm>
          <a:prstGeom prst="line">
            <a:avLst/>
          </a:prstGeom>
          <a:noFill/>
          <a:ln w="31750">
            <a:solidFill>
              <a:schemeClr val="accent2"/>
            </a:solidFill>
            <a:prstDash val="solid"/>
            <a:tailEnd type="triangle"/>
          </a:ln>
        </p:spPr>
      </p:sp>
      <p:sp>
        <p:nvSpPr>
          <p:cNvPr id="15" name="ArchBox4"/>
          <p:cNvSpPr/>
          <p:nvPr/>
        </p:nvSpPr>
        <p:spPr>
          <a:xfrm>
            <a:off x="6227064" y="1463040"/>
            <a:ext cx="1600200" cy="1097280"/>
          </a:xfrm>
          <a:prstGeom prst="roundRect">
            <a:avLst>
              <a:gd name="adj" fmla="val 8333"/>
            </a:avLst>
          </a:prstGeom>
          <a:solidFill>
            <a:schemeClr val="accent2"/>
          </a:solidFill>
          <a:ln w="12700">
            <a:solidFill>
              <a:schemeClr val="accent2"/>
            </a:solidFill>
            <a:prstDash val="solid"/>
          </a:ln>
          <a:effectLst>
            <a:outerShdw blurRad="76200" dist="25400" dir="5400000" algn="bl" rotWithShape="0">
              <a:srgbClr val="000000">
                <a:alpha val="10000"/>
              </a:srgbClr>
            </a:outerShdw>
          </a:effectLst>
        </p:spPr>
      </p:sp>
      <p:sp>
        <p:nvSpPr>
          <p:cNvPr id="16" name="Text 14"/>
          <p:cNvSpPr txBox="1"/>
          <p:nvPr/>
        </p:nvSpPr>
        <p:spPr>
          <a:xfrm>
            <a:off x="6318504" y="1463040"/>
            <a:ext cx="1417320" cy="1097280"/>
          </a:xfrm>
          <a:prstGeom prst="rect">
            <a:avLst/>
          </a:prstGeom>
          <a:noFill/>
          <a:ln/>
        </p:spPr>
        <p:txBody>
          <a:bodyPr wrap="square" lIns="0" tIns="0" rIns="0" bIns="0" rtlCol="0" anchor="ctr"/>
          <a:lstStyle/>
          <a:p>
            <a:pPr marL="0" indent="0" algn="ctr">
              <a:buNone/>
            </a:pPr>
            <a:r>
              <a:rPr lang="en-US" sz="1600" b="1" dirty="0">
                <a:solidFill>
                  <a:schemeClr val="tx2"/>
                </a:solidFill>
              </a:rPr>
              <a:t>Stream processor</a:t>
            </a:r>
            <a:endParaRPr lang="en-US" sz="1600" dirty="0"/>
          </a:p>
        </p:txBody>
      </p:sp>
      <p:sp>
        <p:nvSpPr>
          <p:cNvPr id="17" name="Text 15"/>
          <p:cNvSpPr txBox="1"/>
          <p:nvPr/>
        </p:nvSpPr>
        <p:spPr>
          <a:xfrm>
            <a:off x="6181344" y="2743200"/>
            <a:ext cx="1691640" cy="1554480"/>
          </a:xfrm>
          <a:prstGeom prst="rect">
            <a:avLst/>
          </a:prstGeom>
          <a:noFill/>
          <a:ln/>
        </p:spPr>
        <p:txBody>
          <a:bodyPr wrap="square" lIns="0" tIns="0" rIns="0" bIns="0" rtlCol="0" anchor="t"/>
          <a:lstStyle/>
          <a:p>
            <a:pPr marL="0" indent="0" algn="l">
              <a:buNone/>
            </a:pPr>
            <a:r>
              <a:rPr lang="en-US" sz="1300" dirty="0">
                <a:solidFill>
                  <a:schemeClr val="tx1"/>
                </a:solidFill>
              </a:rPr>
              <a:t>Aggregation, baselines and anomaly detection (rules or ML)</a:t>
            </a:r>
            <a:endParaRPr lang="en-US" sz="1300" dirty="0"/>
          </a:p>
        </p:txBody>
      </p:sp>
      <p:sp>
        <p:nvSpPr>
          <p:cNvPr id="18" name="Shape 16"/>
          <p:cNvSpPr/>
          <p:nvPr/>
        </p:nvSpPr>
        <p:spPr>
          <a:xfrm>
            <a:off x="7854696" y="2011680"/>
            <a:ext cx="237744" cy="0"/>
          </a:xfrm>
          <a:prstGeom prst="line">
            <a:avLst/>
          </a:prstGeom>
          <a:noFill/>
          <a:ln w="31750">
            <a:solidFill>
              <a:schemeClr val="accent2"/>
            </a:solidFill>
            <a:prstDash val="solid"/>
            <a:tailEnd type="triangle"/>
          </a:ln>
        </p:spPr>
      </p:sp>
      <p:sp>
        <p:nvSpPr>
          <p:cNvPr id="19" name="ArchBox5"/>
          <p:cNvSpPr/>
          <p:nvPr/>
        </p:nvSpPr>
        <p:spPr>
          <a:xfrm>
            <a:off x="8119872" y="1463040"/>
            <a:ext cx="1600200" cy="1097280"/>
          </a:xfrm>
          <a:prstGeom prst="roundRect">
            <a:avLst>
              <a:gd name="adj" fmla="val 8333"/>
            </a:avLst>
          </a:prstGeom>
          <a:solidFill>
            <a:schemeClr val="accent1"/>
          </a:solidFill>
          <a:ln w="12700">
            <a:solidFill>
              <a:schemeClr val="accent1"/>
            </a:solidFill>
            <a:prstDash val="solid"/>
          </a:ln>
          <a:effectLst>
            <a:outerShdw blurRad="76200" dist="25400" dir="5400000" algn="bl" rotWithShape="0">
              <a:srgbClr val="000000">
                <a:alpha val="10000"/>
              </a:srgbClr>
            </a:outerShdw>
          </a:effectLst>
        </p:spPr>
      </p:sp>
      <p:sp>
        <p:nvSpPr>
          <p:cNvPr id="20" name="Text 18"/>
          <p:cNvSpPr txBox="1"/>
          <p:nvPr/>
        </p:nvSpPr>
        <p:spPr>
          <a:xfrm>
            <a:off x="8211312" y="1463040"/>
            <a:ext cx="1417320" cy="1097280"/>
          </a:xfrm>
          <a:prstGeom prst="rect">
            <a:avLst/>
          </a:prstGeom>
          <a:noFill/>
          <a:ln/>
        </p:spPr>
        <p:txBody>
          <a:bodyPr wrap="square" lIns="0" tIns="0" rIns="0" bIns="0" rtlCol="0" anchor="ctr"/>
          <a:lstStyle/>
          <a:p>
            <a:pPr marL="0" indent="0" algn="ctr">
              <a:buNone/>
            </a:pPr>
            <a:r>
              <a:rPr lang="en-US" sz="1600" b="1" dirty="0">
                <a:solidFill>
                  <a:schemeClr val="bg1"/>
                </a:solidFill>
              </a:rPr>
              <a:t>Storage</a:t>
            </a:r>
            <a:endParaRPr lang="en-US" sz="1600" dirty="0"/>
          </a:p>
        </p:txBody>
      </p:sp>
      <p:sp>
        <p:nvSpPr>
          <p:cNvPr id="21" name="Text 19"/>
          <p:cNvSpPr txBox="1"/>
          <p:nvPr/>
        </p:nvSpPr>
        <p:spPr>
          <a:xfrm>
            <a:off x="8074152" y="2743200"/>
            <a:ext cx="1691640" cy="1554480"/>
          </a:xfrm>
          <a:prstGeom prst="rect">
            <a:avLst/>
          </a:prstGeom>
          <a:noFill/>
          <a:ln/>
        </p:spPr>
        <p:txBody>
          <a:bodyPr wrap="square" lIns="0" tIns="0" rIns="0" bIns="0" rtlCol="0" anchor="t"/>
          <a:lstStyle/>
          <a:p>
            <a:pPr marL="0" indent="0" algn="l">
              <a:buNone/>
            </a:pPr>
            <a:r>
              <a:rPr lang="en-US" sz="1300" dirty="0">
                <a:solidFill>
                  <a:schemeClr val="tx1"/>
                </a:solidFill>
              </a:rPr>
              <a:t>Postgres for rooms and users</a:t>
            </a:r>
            <a:endParaRPr lang="en-US" sz="1300" dirty="0"/>
          </a:p>
        </p:txBody>
      </p:sp>
      <p:sp>
        <p:nvSpPr>
          <p:cNvPr id="22" name="Shape 20"/>
          <p:cNvSpPr/>
          <p:nvPr/>
        </p:nvSpPr>
        <p:spPr>
          <a:xfrm>
            <a:off x="9747504" y="2011680"/>
            <a:ext cx="237744" cy="0"/>
          </a:xfrm>
          <a:prstGeom prst="line">
            <a:avLst/>
          </a:prstGeom>
          <a:noFill/>
          <a:ln w="31750">
            <a:solidFill>
              <a:schemeClr val="accent2"/>
            </a:solidFill>
            <a:prstDash val="solid"/>
            <a:tailEnd type="triangle"/>
          </a:ln>
        </p:spPr>
      </p:sp>
      <p:sp>
        <p:nvSpPr>
          <p:cNvPr id="23" name="ArchBox6"/>
          <p:cNvSpPr/>
          <p:nvPr/>
        </p:nvSpPr>
        <p:spPr>
          <a:xfrm>
            <a:off x="10012680" y="1463040"/>
            <a:ext cx="1600200" cy="1097280"/>
          </a:xfrm>
          <a:prstGeom prst="roundRect">
            <a:avLst>
              <a:gd name="adj" fmla="val 8333"/>
            </a:avLst>
          </a:prstGeom>
          <a:solidFill>
            <a:schemeClr val="accent1"/>
          </a:solidFill>
          <a:ln w="12700">
            <a:solidFill>
              <a:schemeClr val="accent1"/>
            </a:solidFill>
            <a:prstDash val="solid"/>
          </a:ln>
          <a:effectLst>
            <a:outerShdw blurRad="76200" dist="25400" dir="5400000" algn="bl" rotWithShape="0">
              <a:srgbClr val="000000">
                <a:alpha val="10000"/>
              </a:srgbClr>
            </a:outerShdw>
          </a:effectLst>
        </p:spPr>
      </p:sp>
      <p:sp>
        <p:nvSpPr>
          <p:cNvPr id="24" name="Text 22"/>
          <p:cNvSpPr txBox="1"/>
          <p:nvPr/>
        </p:nvSpPr>
        <p:spPr>
          <a:xfrm>
            <a:off x="10104120" y="1463040"/>
            <a:ext cx="1417320" cy="1097280"/>
          </a:xfrm>
          <a:prstGeom prst="rect">
            <a:avLst/>
          </a:prstGeom>
          <a:noFill/>
          <a:ln/>
        </p:spPr>
        <p:txBody>
          <a:bodyPr wrap="square" lIns="0" tIns="0" rIns="0" bIns="0" rtlCol="0" anchor="ctr"/>
          <a:lstStyle/>
          <a:p>
            <a:pPr marL="0" indent="0" algn="ctr">
              <a:buNone/>
            </a:pPr>
            <a:r>
              <a:rPr lang="en-US" sz="1600" b="1" dirty="0">
                <a:solidFill>
                  <a:schemeClr val="bg1"/>
                </a:solidFill>
              </a:rPr>
              <a:t>Alerts and dashboard</a:t>
            </a:r>
            <a:endParaRPr lang="en-US" sz="1600" dirty="0"/>
          </a:p>
        </p:txBody>
      </p:sp>
      <p:sp>
        <p:nvSpPr>
          <p:cNvPr id="25" name="Text 23"/>
          <p:cNvSpPr txBox="1"/>
          <p:nvPr/>
        </p:nvSpPr>
        <p:spPr>
          <a:xfrm>
            <a:off x="9966960" y="2752531"/>
            <a:ext cx="1691640" cy="1554480"/>
          </a:xfrm>
          <a:prstGeom prst="rect">
            <a:avLst/>
          </a:prstGeom>
          <a:noFill/>
          <a:ln/>
        </p:spPr>
        <p:txBody>
          <a:bodyPr wrap="square" lIns="0" tIns="0" rIns="0" bIns="0" rtlCol="0" anchor="t"/>
          <a:lstStyle/>
          <a:p>
            <a:pPr marL="0" indent="0" algn="l">
              <a:buNone/>
            </a:pPr>
            <a:r>
              <a:rPr lang="en-US" sz="1300" dirty="0">
                <a:solidFill>
                  <a:schemeClr val="tx1"/>
                </a:solidFill>
              </a:rPr>
              <a:t>Alert service, REST API, Redis cache, admin UI</a:t>
            </a:r>
            <a:endParaRPr lang="en-US" sz="1300" dirty="0"/>
          </a:p>
        </p:txBody>
      </p:sp>
      <p:sp>
        <p:nvSpPr>
          <p:cNvPr id="26" name="ArchNote1"/>
          <p:cNvSpPr/>
          <p:nvPr/>
        </p:nvSpPr>
        <p:spPr>
          <a:xfrm>
            <a:off x="548640" y="4526280"/>
            <a:ext cx="3566160" cy="1691640"/>
          </a:xfrm>
          <a:prstGeom prst="roundRect">
            <a:avLst>
              <a:gd name="adj" fmla="val 6486"/>
            </a:avLst>
          </a:prstGeom>
          <a:solidFill>
            <a:schemeClr val="bg2"/>
          </a:solidFill>
          <a:ln w="12700">
            <a:solidFill>
              <a:schemeClr val="bg2"/>
            </a:solidFill>
            <a:prstDash val="solid"/>
          </a:ln>
          <a:effectLst>
            <a:outerShdw blurRad="76200" dist="25400" dir="5400000" algn="bl" rotWithShape="0">
              <a:srgbClr val="000000">
                <a:alpha val="10000"/>
              </a:srgbClr>
            </a:outerShdw>
          </a:effectLst>
        </p:spPr>
      </p:sp>
      <p:sp>
        <p:nvSpPr>
          <p:cNvPr id="27" name="Text 25"/>
          <p:cNvSpPr txBox="1"/>
          <p:nvPr/>
        </p:nvSpPr>
        <p:spPr>
          <a:xfrm>
            <a:off x="777240" y="4663440"/>
            <a:ext cx="3108960" cy="365760"/>
          </a:xfrm>
          <a:prstGeom prst="rect">
            <a:avLst/>
          </a:prstGeom>
          <a:noFill/>
          <a:ln/>
        </p:spPr>
        <p:txBody>
          <a:bodyPr wrap="square" lIns="0" tIns="0" rIns="0" bIns="0" rtlCol="0" anchor="t"/>
          <a:lstStyle/>
          <a:p>
            <a:pPr marL="0" indent="0" algn="l">
              <a:buNone/>
            </a:pPr>
            <a:r>
              <a:rPr lang="en-US" sz="1800" b="1" dirty="0">
                <a:solidFill>
                  <a:schemeClr val="tx2"/>
                </a:solidFill>
              </a:rPr>
              <a:t>Reliability</a:t>
            </a:r>
            <a:endParaRPr lang="en-US" sz="1800" dirty="0"/>
          </a:p>
        </p:txBody>
      </p:sp>
      <p:sp>
        <p:nvSpPr>
          <p:cNvPr id="28" name="Text 26"/>
          <p:cNvSpPr txBox="1"/>
          <p:nvPr/>
        </p:nvSpPr>
        <p:spPr>
          <a:xfrm>
            <a:off x="777240" y="5074920"/>
            <a:ext cx="3108960" cy="1097280"/>
          </a:xfrm>
          <a:prstGeom prst="rect">
            <a:avLst/>
          </a:prstGeom>
          <a:noFill/>
          <a:ln/>
        </p:spPr>
        <p:txBody>
          <a:bodyPr wrap="square" lIns="0" tIns="0" rIns="0" bIns="0" rtlCol="0" anchor="t"/>
          <a:lstStyle/>
          <a:p>
            <a:pPr marL="0" indent="0" algn="l">
              <a:buNone/>
            </a:pPr>
            <a:r>
              <a:rPr lang="en-US" sz="1400" dirty="0">
                <a:solidFill>
                  <a:schemeClr val="tx1"/>
                </a:solidFill>
              </a:rPr>
              <a:t>At-least-once delivery with idempotent writes: no data lost if a service restarts.</a:t>
            </a:r>
            <a:endParaRPr lang="en-US" sz="1400" dirty="0"/>
          </a:p>
        </p:txBody>
      </p:sp>
      <p:sp>
        <p:nvSpPr>
          <p:cNvPr id="29" name="ArchNote2"/>
          <p:cNvSpPr/>
          <p:nvPr/>
        </p:nvSpPr>
        <p:spPr>
          <a:xfrm>
            <a:off x="4297680" y="4526280"/>
            <a:ext cx="3566160" cy="1691640"/>
          </a:xfrm>
          <a:prstGeom prst="roundRect">
            <a:avLst>
              <a:gd name="adj" fmla="val 6486"/>
            </a:avLst>
          </a:prstGeom>
          <a:solidFill>
            <a:schemeClr val="bg2"/>
          </a:solidFill>
          <a:ln w="12700">
            <a:solidFill>
              <a:schemeClr val="bg2"/>
            </a:solidFill>
            <a:prstDash val="solid"/>
          </a:ln>
          <a:effectLst>
            <a:outerShdw blurRad="76200" dist="25400" dir="5400000" algn="bl" rotWithShape="0">
              <a:srgbClr val="000000">
                <a:alpha val="10000"/>
              </a:srgbClr>
            </a:outerShdw>
          </a:effectLst>
        </p:spPr>
      </p:sp>
      <p:sp>
        <p:nvSpPr>
          <p:cNvPr id="30" name="Text 28"/>
          <p:cNvSpPr txBox="1"/>
          <p:nvPr/>
        </p:nvSpPr>
        <p:spPr>
          <a:xfrm>
            <a:off x="4526280" y="4663440"/>
            <a:ext cx="3108960" cy="365760"/>
          </a:xfrm>
          <a:prstGeom prst="rect">
            <a:avLst/>
          </a:prstGeom>
          <a:noFill/>
          <a:ln/>
        </p:spPr>
        <p:txBody>
          <a:bodyPr wrap="square" lIns="0" tIns="0" rIns="0" bIns="0" rtlCol="0" anchor="t"/>
          <a:lstStyle/>
          <a:p>
            <a:pPr marL="0" indent="0" algn="l">
              <a:buNone/>
            </a:pPr>
            <a:r>
              <a:rPr lang="en-US" sz="1800" b="1" dirty="0">
                <a:solidFill>
                  <a:schemeClr val="tx2"/>
                </a:solidFill>
              </a:rPr>
              <a:t>Scale</a:t>
            </a:r>
            <a:endParaRPr lang="en-US" sz="1800" dirty="0"/>
          </a:p>
        </p:txBody>
      </p:sp>
      <p:sp>
        <p:nvSpPr>
          <p:cNvPr id="31" name="Text 29"/>
          <p:cNvSpPr txBox="1"/>
          <p:nvPr/>
        </p:nvSpPr>
        <p:spPr>
          <a:xfrm>
            <a:off x="4526280" y="5074920"/>
            <a:ext cx="3108960" cy="1097280"/>
          </a:xfrm>
          <a:prstGeom prst="rect">
            <a:avLst/>
          </a:prstGeom>
          <a:noFill/>
          <a:ln/>
        </p:spPr>
        <p:txBody>
          <a:bodyPr wrap="square" lIns="0" tIns="0" rIns="0" bIns="0" rtlCol="0" anchor="t"/>
          <a:lstStyle/>
          <a:p>
            <a:pPr marL="0" indent="0" algn="l">
              <a:buNone/>
            </a:pPr>
            <a:r>
              <a:rPr lang="en-US" sz="1400" dirty="0">
                <a:solidFill>
                  <a:schemeClr val="tx1"/>
                </a:solidFill>
              </a:rPr>
              <a:t>Add queue partitions and consumers. The ingestion API is stateless, so add instances behind a load balancer.</a:t>
            </a:r>
            <a:endParaRPr lang="en-US" sz="1400" dirty="0"/>
          </a:p>
        </p:txBody>
      </p:sp>
      <p:sp>
        <p:nvSpPr>
          <p:cNvPr id="32" name="ArchNote3"/>
          <p:cNvSpPr/>
          <p:nvPr/>
        </p:nvSpPr>
        <p:spPr>
          <a:xfrm>
            <a:off x="8046720" y="4526280"/>
            <a:ext cx="3566160" cy="1691640"/>
          </a:xfrm>
          <a:prstGeom prst="roundRect">
            <a:avLst>
              <a:gd name="adj" fmla="val 6486"/>
            </a:avLst>
          </a:prstGeom>
          <a:solidFill>
            <a:schemeClr val="bg2"/>
          </a:solidFill>
          <a:ln w="12700">
            <a:solidFill>
              <a:schemeClr val="bg2"/>
            </a:solidFill>
            <a:prstDash val="solid"/>
          </a:ln>
          <a:effectLst>
            <a:outerShdw blurRad="76200" dist="25400" dir="5400000" algn="bl" rotWithShape="0">
              <a:srgbClr val="000000">
                <a:alpha val="10000"/>
              </a:srgbClr>
            </a:outerShdw>
          </a:effectLst>
        </p:spPr>
      </p:sp>
      <p:sp>
        <p:nvSpPr>
          <p:cNvPr id="33" name="Text 31"/>
          <p:cNvSpPr txBox="1"/>
          <p:nvPr/>
        </p:nvSpPr>
        <p:spPr>
          <a:xfrm>
            <a:off x="8275320" y="4663440"/>
            <a:ext cx="3108960" cy="365760"/>
          </a:xfrm>
          <a:prstGeom prst="rect">
            <a:avLst/>
          </a:prstGeom>
          <a:noFill/>
          <a:ln/>
        </p:spPr>
        <p:txBody>
          <a:bodyPr wrap="square" lIns="0" tIns="0" rIns="0" bIns="0" rtlCol="0" anchor="t"/>
          <a:lstStyle/>
          <a:p>
            <a:pPr marL="0" indent="0" algn="l">
              <a:buNone/>
            </a:pPr>
            <a:r>
              <a:rPr lang="en-US" sz="1800" b="1" dirty="0">
                <a:solidFill>
                  <a:schemeClr val="tx2"/>
                </a:solidFill>
              </a:rPr>
              <a:t>Observability</a:t>
            </a:r>
            <a:endParaRPr lang="en-US" sz="1800" dirty="0"/>
          </a:p>
        </p:txBody>
      </p:sp>
      <p:sp>
        <p:nvSpPr>
          <p:cNvPr id="34" name="Text 32"/>
          <p:cNvSpPr txBox="1"/>
          <p:nvPr/>
        </p:nvSpPr>
        <p:spPr>
          <a:xfrm>
            <a:off x="8275320" y="5074920"/>
            <a:ext cx="3108960" cy="1097280"/>
          </a:xfrm>
          <a:prstGeom prst="rect">
            <a:avLst/>
          </a:prstGeom>
          <a:noFill/>
          <a:ln/>
        </p:spPr>
        <p:txBody>
          <a:bodyPr wrap="square" lIns="0" tIns="0" rIns="0" bIns="0" rtlCol="0" anchor="t"/>
          <a:lstStyle/>
          <a:p>
            <a:pPr marL="0" indent="0" algn="l">
              <a:buNone/>
            </a:pPr>
            <a:r>
              <a:rPr lang="en-US" sz="1400" dirty="0">
                <a:solidFill>
                  <a:schemeClr val="tx1"/>
                </a:solidFill>
              </a:rPr>
              <a:t>Docker for deploys. Prometheus and Grafana monitor the pipeline itself.</a:t>
            </a:r>
            <a:endParaRPr lang="en-US" sz="1400" dirty="0"/>
          </a:p>
        </p:txBody>
      </p:sp>
      <p:sp>
        <p:nvSpPr>
          <p:cNvPr id="3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1"/>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chemeClr val="tx2"/>
                </a:solidFill>
              </a:rPr>
              <a:t>What CampusWatt does</a:t>
            </a:r>
            <a:endParaRPr lang="en-US" sz="3600" dirty="0"/>
          </a:p>
        </p:txBody>
      </p:sp>
      <p:sp>
        <p:nvSpPr>
          <p:cNvPr id="3" name="FeatureCard1"/>
          <p:cNvSpPr/>
          <p:nvPr/>
        </p:nvSpPr>
        <p:spPr>
          <a:xfrm>
            <a:off x="548640" y="1371600"/>
            <a:ext cx="5440680" cy="2286000"/>
          </a:xfrm>
          <a:prstGeom prst="roundRect">
            <a:avLst>
              <a:gd name="adj" fmla="val 4800"/>
            </a:avLst>
          </a:prstGeom>
          <a:solidFill>
            <a:schemeClr val="bg2"/>
          </a:solidFill>
          <a:ln w="12700">
            <a:solidFill>
              <a:schemeClr val="bg2"/>
            </a:solidFill>
            <a:prstDash val="solid"/>
          </a:ln>
          <a:effectLst>
            <a:outerShdw blurRad="76200" dist="25400" dir="5400000" algn="bl" rotWithShape="0">
              <a:srgbClr val="000000">
                <a:alpha val="10000"/>
              </a:srgbClr>
            </a:outerShdw>
          </a:effectLst>
        </p:spPr>
      </p:sp>
      <p:sp>
        <p:nvSpPr>
          <p:cNvPr id="4" name="Shape 2"/>
          <p:cNvSpPr/>
          <p:nvPr/>
        </p:nvSpPr>
        <p:spPr>
          <a:xfrm>
            <a:off x="868680" y="1737360"/>
            <a:ext cx="914400" cy="914400"/>
          </a:xfrm>
          <a:prstGeom prst="ellipse">
            <a:avLst/>
          </a:prstGeom>
          <a:solidFill>
            <a:schemeClr val="accent1"/>
          </a:solidFill>
          <a:ln w="12700">
            <a:solidFill>
              <a:schemeClr val="accent1"/>
            </a:solidFill>
            <a:prstDash val="solid"/>
          </a:ln>
        </p:spPr>
      </p:sp>
      <p:pic>
        <p:nvPicPr>
          <p:cNvPr id="5" name="Image 0" descr="preencoded.png"/>
          <p:cNvPicPr>
            <a:picLocks noChangeAspect="1"/>
          </p:cNvPicPr>
          <p:nvPr/>
        </p:nvPicPr>
        <p:blipFill>
          <a:blip r:embed="rId3"/>
          <a:stretch>
            <a:fillRect/>
          </a:stretch>
        </p:blipFill>
        <p:spPr>
          <a:xfrm>
            <a:off x="1115568" y="1984248"/>
            <a:ext cx="420624" cy="420624"/>
          </a:xfrm>
          <a:prstGeom prst="rect">
            <a:avLst/>
          </a:prstGeom>
        </p:spPr>
      </p:pic>
      <p:sp>
        <p:nvSpPr>
          <p:cNvPr id="6" name="Text 3"/>
          <p:cNvSpPr txBox="1"/>
          <p:nvPr/>
        </p:nvSpPr>
        <p:spPr>
          <a:xfrm>
            <a:off x="2103120" y="1691640"/>
            <a:ext cx="3657600" cy="457200"/>
          </a:xfrm>
          <a:prstGeom prst="rect">
            <a:avLst/>
          </a:prstGeom>
          <a:noFill/>
          <a:ln/>
        </p:spPr>
        <p:txBody>
          <a:bodyPr wrap="square" lIns="0" tIns="0" rIns="0" bIns="0" rtlCol="0" anchor="t"/>
          <a:lstStyle/>
          <a:p>
            <a:pPr marL="0" indent="0" algn="l">
              <a:buNone/>
            </a:pPr>
            <a:r>
              <a:rPr lang="en-US" sz="2200" b="1" dirty="0">
                <a:solidFill>
                  <a:schemeClr val="tx2"/>
                </a:solidFill>
              </a:rPr>
              <a:t>Collect everything</a:t>
            </a:r>
            <a:endParaRPr lang="en-US" sz="2200" dirty="0"/>
          </a:p>
        </p:txBody>
      </p:sp>
      <p:sp>
        <p:nvSpPr>
          <p:cNvPr id="7" name="Text 4"/>
          <p:cNvSpPr txBox="1"/>
          <p:nvPr/>
        </p:nvSpPr>
        <p:spPr>
          <a:xfrm>
            <a:off x="2103120" y="2240280"/>
            <a:ext cx="3657600" cy="1280160"/>
          </a:xfrm>
          <a:prstGeom prst="rect">
            <a:avLst/>
          </a:prstGeom>
          <a:noFill/>
          <a:ln/>
        </p:spPr>
        <p:txBody>
          <a:bodyPr wrap="square" lIns="0" tIns="0" rIns="0" bIns="0" rtlCol="0" anchor="t"/>
          <a:lstStyle/>
          <a:p>
            <a:pPr marL="0" indent="0" algn="l">
              <a:buNone/>
            </a:pPr>
            <a:r>
              <a:rPr lang="en-US" sz="1600" dirty="0">
                <a:solidFill>
                  <a:schemeClr val="tx1"/>
                </a:solidFill>
              </a:rPr>
              <a:t>Readings from simulated meters, bills, timetables and weather arrive through one validated API.</a:t>
            </a:r>
            <a:endParaRPr lang="en-US" sz="1600" dirty="0"/>
          </a:p>
        </p:txBody>
      </p:sp>
      <p:sp>
        <p:nvSpPr>
          <p:cNvPr id="8" name="FeatureCard2"/>
          <p:cNvSpPr/>
          <p:nvPr/>
        </p:nvSpPr>
        <p:spPr>
          <a:xfrm>
            <a:off x="6172200" y="1371600"/>
            <a:ext cx="5440680" cy="2286000"/>
          </a:xfrm>
          <a:prstGeom prst="roundRect">
            <a:avLst>
              <a:gd name="adj" fmla="val 4800"/>
            </a:avLst>
          </a:prstGeom>
          <a:solidFill>
            <a:schemeClr val="bg2"/>
          </a:solidFill>
          <a:ln w="12700">
            <a:solidFill>
              <a:schemeClr val="bg2"/>
            </a:solidFill>
            <a:prstDash val="solid"/>
          </a:ln>
          <a:effectLst>
            <a:outerShdw blurRad="76200" dist="25400" dir="5400000" algn="bl" rotWithShape="0">
              <a:srgbClr val="000000">
                <a:alpha val="10000"/>
              </a:srgbClr>
            </a:outerShdw>
          </a:effectLst>
        </p:spPr>
      </p:sp>
      <p:sp>
        <p:nvSpPr>
          <p:cNvPr id="9" name="Shape 6"/>
          <p:cNvSpPr/>
          <p:nvPr/>
        </p:nvSpPr>
        <p:spPr>
          <a:xfrm>
            <a:off x="6492240" y="1737360"/>
            <a:ext cx="914400" cy="914400"/>
          </a:xfrm>
          <a:prstGeom prst="ellipse">
            <a:avLst/>
          </a:prstGeom>
          <a:solidFill>
            <a:schemeClr val="accent1"/>
          </a:solidFill>
          <a:ln w="12700">
            <a:solidFill>
              <a:schemeClr val="accent1"/>
            </a:solidFill>
            <a:prstDash val="solid"/>
          </a:ln>
        </p:spPr>
      </p:sp>
      <p:pic>
        <p:nvPicPr>
          <p:cNvPr id="10" name="Image 1" descr="preencoded.png"/>
          <p:cNvPicPr>
            <a:picLocks noChangeAspect="1"/>
          </p:cNvPicPr>
          <p:nvPr/>
        </p:nvPicPr>
        <p:blipFill>
          <a:blip r:embed="rId4"/>
          <a:stretch>
            <a:fillRect/>
          </a:stretch>
        </p:blipFill>
        <p:spPr>
          <a:xfrm>
            <a:off x="6739128" y="1984248"/>
            <a:ext cx="420624" cy="420624"/>
          </a:xfrm>
          <a:prstGeom prst="rect">
            <a:avLst/>
          </a:prstGeom>
        </p:spPr>
      </p:pic>
      <p:sp>
        <p:nvSpPr>
          <p:cNvPr id="11" name="Text 7"/>
          <p:cNvSpPr txBox="1"/>
          <p:nvPr/>
        </p:nvSpPr>
        <p:spPr>
          <a:xfrm>
            <a:off x="7726680" y="1691640"/>
            <a:ext cx="3657600" cy="457200"/>
          </a:xfrm>
          <a:prstGeom prst="rect">
            <a:avLst/>
          </a:prstGeom>
          <a:noFill/>
          <a:ln/>
        </p:spPr>
        <p:txBody>
          <a:bodyPr wrap="square" lIns="0" tIns="0" rIns="0" bIns="0" rtlCol="0" anchor="t"/>
          <a:lstStyle/>
          <a:p>
            <a:pPr marL="0" indent="0" algn="l">
              <a:buNone/>
            </a:pPr>
            <a:r>
              <a:rPr lang="en-US" sz="2200" b="1" dirty="0">
                <a:solidFill>
                  <a:schemeClr val="tx2"/>
                </a:solidFill>
              </a:rPr>
              <a:t>Find the waste</a:t>
            </a:r>
            <a:endParaRPr lang="en-US" sz="2200" dirty="0"/>
          </a:p>
        </p:txBody>
      </p:sp>
      <p:sp>
        <p:nvSpPr>
          <p:cNvPr id="12" name="Text 8"/>
          <p:cNvSpPr txBox="1"/>
          <p:nvPr/>
        </p:nvSpPr>
        <p:spPr>
          <a:xfrm>
            <a:off x="7726680" y="2240280"/>
            <a:ext cx="3657600" cy="1280160"/>
          </a:xfrm>
          <a:prstGeom prst="rect">
            <a:avLst/>
          </a:prstGeom>
          <a:noFill/>
          <a:ln/>
        </p:spPr>
        <p:txBody>
          <a:bodyPr wrap="square" lIns="0" tIns="0" rIns="0" bIns="0" rtlCol="0" anchor="t"/>
          <a:lstStyle/>
          <a:p>
            <a:pPr marL="0" indent="0" algn="l">
              <a:buNone/>
            </a:pPr>
            <a:r>
              <a:rPr lang="en-US" sz="1600" dirty="0">
                <a:solidFill>
                  <a:schemeClr val="tx1"/>
                </a:solidFill>
              </a:rPr>
              <a:t>Live usage is compared with a learned per-room baseline to flag anomalies such as AC left on at night.</a:t>
            </a:r>
            <a:endParaRPr lang="en-US" sz="1600" dirty="0"/>
          </a:p>
        </p:txBody>
      </p:sp>
      <p:sp>
        <p:nvSpPr>
          <p:cNvPr id="13" name="FeatureCard3"/>
          <p:cNvSpPr/>
          <p:nvPr/>
        </p:nvSpPr>
        <p:spPr>
          <a:xfrm>
            <a:off x="548640" y="3840480"/>
            <a:ext cx="5440680" cy="2286000"/>
          </a:xfrm>
          <a:prstGeom prst="roundRect">
            <a:avLst>
              <a:gd name="adj" fmla="val 4800"/>
            </a:avLst>
          </a:prstGeom>
          <a:solidFill>
            <a:schemeClr val="bg2"/>
          </a:solidFill>
          <a:ln w="12700">
            <a:solidFill>
              <a:schemeClr val="bg2"/>
            </a:solidFill>
            <a:prstDash val="solid"/>
          </a:ln>
          <a:effectLst>
            <a:outerShdw blurRad="76200" dist="25400" dir="5400000" algn="bl" rotWithShape="0">
              <a:srgbClr val="000000">
                <a:alpha val="10000"/>
              </a:srgbClr>
            </a:outerShdw>
          </a:effectLst>
        </p:spPr>
      </p:sp>
      <p:sp>
        <p:nvSpPr>
          <p:cNvPr id="14" name="Shape 10"/>
          <p:cNvSpPr/>
          <p:nvPr/>
        </p:nvSpPr>
        <p:spPr>
          <a:xfrm>
            <a:off x="868680" y="4206240"/>
            <a:ext cx="914400" cy="914400"/>
          </a:xfrm>
          <a:prstGeom prst="ellipse">
            <a:avLst/>
          </a:prstGeom>
          <a:solidFill>
            <a:schemeClr val="accent1"/>
          </a:solidFill>
          <a:ln w="12700">
            <a:solidFill>
              <a:schemeClr val="accent1"/>
            </a:solidFill>
            <a:prstDash val="solid"/>
          </a:ln>
        </p:spPr>
      </p:sp>
      <p:pic>
        <p:nvPicPr>
          <p:cNvPr id="15" name="Image 2" descr="preencoded.png"/>
          <p:cNvPicPr>
            <a:picLocks noChangeAspect="1"/>
          </p:cNvPicPr>
          <p:nvPr/>
        </p:nvPicPr>
        <p:blipFill>
          <a:blip r:embed="rId5"/>
          <a:stretch>
            <a:fillRect/>
          </a:stretch>
        </p:blipFill>
        <p:spPr>
          <a:xfrm>
            <a:off x="1115568" y="4453128"/>
            <a:ext cx="420624" cy="420624"/>
          </a:xfrm>
          <a:prstGeom prst="rect">
            <a:avLst/>
          </a:prstGeom>
        </p:spPr>
      </p:pic>
      <p:sp>
        <p:nvSpPr>
          <p:cNvPr id="16" name="Text 11"/>
          <p:cNvSpPr txBox="1"/>
          <p:nvPr/>
        </p:nvSpPr>
        <p:spPr>
          <a:xfrm>
            <a:off x="2103120" y="4160520"/>
            <a:ext cx="3657600" cy="457200"/>
          </a:xfrm>
          <a:prstGeom prst="rect">
            <a:avLst/>
          </a:prstGeom>
          <a:noFill/>
          <a:ln/>
        </p:spPr>
        <p:txBody>
          <a:bodyPr wrap="square" lIns="0" tIns="0" rIns="0" bIns="0" rtlCol="0" anchor="t"/>
          <a:lstStyle/>
          <a:p>
            <a:pPr marL="0" indent="0" algn="l">
              <a:buNone/>
            </a:pPr>
            <a:r>
              <a:rPr lang="en-US" sz="2200" b="1" dirty="0">
                <a:solidFill>
                  <a:schemeClr val="tx2"/>
                </a:solidFill>
              </a:rPr>
              <a:t>Tell the right person</a:t>
            </a:r>
            <a:endParaRPr lang="en-US" sz="2200" dirty="0"/>
          </a:p>
        </p:txBody>
      </p:sp>
      <p:sp>
        <p:nvSpPr>
          <p:cNvPr id="17" name="Text 12"/>
          <p:cNvSpPr txBox="1"/>
          <p:nvPr/>
        </p:nvSpPr>
        <p:spPr>
          <a:xfrm>
            <a:off x="2103120" y="4709160"/>
            <a:ext cx="3657600" cy="1280160"/>
          </a:xfrm>
          <a:prstGeom prst="rect">
            <a:avLst/>
          </a:prstGeom>
          <a:noFill/>
          <a:ln/>
        </p:spPr>
        <p:txBody>
          <a:bodyPr wrap="square" lIns="0" tIns="0" rIns="0" bIns="0" rtlCol="0" anchor="t"/>
          <a:lstStyle/>
          <a:p>
            <a:pPr marL="0" indent="0" algn="l">
              <a:buNone/>
            </a:pPr>
            <a:r>
              <a:rPr lang="en-US" sz="1600" dirty="0">
                <a:solidFill>
                  <a:schemeClr val="tx1"/>
                </a:solidFill>
              </a:rPr>
              <a:t>Alerts reach the facility manager's dashboard and email within seconds. Savings are logged after action.</a:t>
            </a:r>
            <a:endParaRPr lang="en-US" sz="1600" dirty="0"/>
          </a:p>
        </p:txBody>
      </p:sp>
      <p:sp>
        <p:nvSpPr>
          <p:cNvPr id="18" name="FeatureCard4"/>
          <p:cNvSpPr/>
          <p:nvPr/>
        </p:nvSpPr>
        <p:spPr>
          <a:xfrm>
            <a:off x="6172200" y="3840480"/>
            <a:ext cx="5440680" cy="2286000"/>
          </a:xfrm>
          <a:prstGeom prst="roundRect">
            <a:avLst>
              <a:gd name="adj" fmla="val 4800"/>
            </a:avLst>
          </a:prstGeom>
          <a:solidFill>
            <a:schemeClr val="bg2"/>
          </a:solidFill>
          <a:ln w="12700">
            <a:solidFill>
              <a:schemeClr val="bg2"/>
            </a:solidFill>
            <a:prstDash val="solid"/>
          </a:ln>
          <a:effectLst>
            <a:outerShdw blurRad="76200" dist="25400" dir="5400000" algn="bl" rotWithShape="0">
              <a:srgbClr val="000000">
                <a:alpha val="10000"/>
              </a:srgbClr>
            </a:outerShdw>
          </a:effectLst>
        </p:spPr>
      </p:sp>
      <p:sp>
        <p:nvSpPr>
          <p:cNvPr id="19" name="Shape 14"/>
          <p:cNvSpPr/>
          <p:nvPr/>
        </p:nvSpPr>
        <p:spPr>
          <a:xfrm>
            <a:off x="6492240" y="4206240"/>
            <a:ext cx="914400" cy="914400"/>
          </a:xfrm>
          <a:prstGeom prst="ellipse">
            <a:avLst/>
          </a:prstGeom>
          <a:solidFill>
            <a:schemeClr val="accent1"/>
          </a:solidFill>
          <a:ln w="12700">
            <a:solidFill>
              <a:schemeClr val="accent1"/>
            </a:solidFill>
            <a:prstDash val="solid"/>
          </a:ln>
        </p:spPr>
      </p:sp>
      <p:pic>
        <p:nvPicPr>
          <p:cNvPr id="20" name="Image 3" descr="preencoded.png"/>
          <p:cNvPicPr>
            <a:picLocks noChangeAspect="1"/>
          </p:cNvPicPr>
          <p:nvPr/>
        </p:nvPicPr>
        <p:blipFill>
          <a:blip r:embed="rId6"/>
          <a:stretch>
            <a:fillRect/>
          </a:stretch>
        </p:blipFill>
        <p:spPr>
          <a:xfrm>
            <a:off x="6739128" y="4453128"/>
            <a:ext cx="420624" cy="420624"/>
          </a:xfrm>
          <a:prstGeom prst="rect">
            <a:avLst/>
          </a:prstGeom>
        </p:spPr>
      </p:pic>
      <p:sp>
        <p:nvSpPr>
          <p:cNvPr id="21" name="Text 15"/>
          <p:cNvSpPr txBox="1"/>
          <p:nvPr/>
        </p:nvSpPr>
        <p:spPr>
          <a:xfrm>
            <a:off x="7726680" y="4160520"/>
            <a:ext cx="3657600" cy="457200"/>
          </a:xfrm>
          <a:prstGeom prst="rect">
            <a:avLst/>
          </a:prstGeom>
          <a:noFill/>
          <a:ln/>
        </p:spPr>
        <p:txBody>
          <a:bodyPr wrap="square" lIns="0" tIns="0" rIns="0" bIns="0" rtlCol="0" anchor="t"/>
          <a:lstStyle/>
          <a:p>
            <a:pPr marL="0" indent="0" algn="l">
              <a:buNone/>
            </a:pPr>
            <a:r>
              <a:rPr lang="en-US" sz="2200" b="1" dirty="0">
                <a:solidFill>
                  <a:schemeClr val="tx2"/>
                </a:solidFill>
              </a:rPr>
              <a:t>Prove the savings</a:t>
            </a:r>
            <a:endParaRPr lang="en-US" sz="2200" dirty="0"/>
          </a:p>
        </p:txBody>
      </p:sp>
      <p:sp>
        <p:nvSpPr>
          <p:cNvPr id="22" name="Text 16"/>
          <p:cNvSpPr txBox="1"/>
          <p:nvPr/>
        </p:nvSpPr>
        <p:spPr>
          <a:xfrm>
            <a:off x="7726680" y="4709160"/>
            <a:ext cx="3657600" cy="1280160"/>
          </a:xfrm>
          <a:prstGeom prst="rect">
            <a:avLst/>
          </a:prstGeom>
          <a:noFill/>
          <a:ln/>
        </p:spPr>
        <p:txBody>
          <a:bodyPr wrap="square" lIns="0" tIns="0" rIns="0" bIns="0" rtlCol="0" anchor="t"/>
          <a:lstStyle/>
          <a:p>
            <a:pPr marL="0" indent="0" algn="l">
              <a:buNone/>
            </a:pPr>
            <a:r>
              <a:rPr lang="en-US" sz="1600" dirty="0">
                <a:solidFill>
                  <a:schemeClr val="tx1"/>
                </a:solidFill>
              </a:rPr>
              <a:t>Dashboards, nightly audit reports and recommendations, in kWh, rupees and CO2.</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1"/>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chemeClr val="tx2"/>
                </a:solidFill>
              </a:rPr>
              <a:t>A strong system design problem</a:t>
            </a:r>
            <a:endParaRPr lang="en-US" sz="3600" dirty="0"/>
          </a:p>
        </p:txBody>
      </p:sp>
      <p:sp>
        <p:nvSpPr>
          <p:cNvPr id="3" name="DesignCard1"/>
          <p:cNvSpPr/>
          <p:nvPr/>
        </p:nvSpPr>
        <p:spPr>
          <a:xfrm>
            <a:off x="548640" y="1371600"/>
            <a:ext cx="3566160" cy="2286000"/>
          </a:xfrm>
          <a:prstGeom prst="roundRect">
            <a:avLst>
              <a:gd name="adj" fmla="val 4800"/>
            </a:avLst>
          </a:prstGeom>
          <a:solidFill>
            <a:schemeClr val="bg2"/>
          </a:solidFill>
          <a:ln w="12700">
            <a:solidFill>
              <a:schemeClr val="bg2"/>
            </a:solidFill>
            <a:prstDash val="solid"/>
          </a:ln>
          <a:effectLst>
            <a:outerShdw blurRad="76200" dist="25400" dir="5400000" algn="bl" rotWithShape="0">
              <a:srgbClr val="000000">
                <a:alpha val="10000"/>
              </a:srgbClr>
            </a:outerShdw>
          </a:effectLst>
        </p:spPr>
      </p:sp>
      <p:sp>
        <p:nvSpPr>
          <p:cNvPr id="4" name="Shape 2"/>
          <p:cNvSpPr/>
          <p:nvPr/>
        </p:nvSpPr>
        <p:spPr>
          <a:xfrm>
            <a:off x="822960" y="1645920"/>
            <a:ext cx="640080" cy="640080"/>
          </a:xfrm>
          <a:prstGeom prst="ellipse">
            <a:avLst/>
          </a:prstGeom>
          <a:solidFill>
            <a:schemeClr val="accent1"/>
          </a:solidFill>
          <a:ln w="12700">
            <a:solidFill>
              <a:schemeClr val="accent1"/>
            </a:solidFill>
            <a:prstDash val="solid"/>
          </a:ln>
        </p:spPr>
      </p:sp>
      <p:pic>
        <p:nvPicPr>
          <p:cNvPr id="5" name="Image 0" descr="preencoded.png"/>
          <p:cNvPicPr>
            <a:picLocks noChangeAspect="1"/>
          </p:cNvPicPr>
          <p:nvPr/>
        </p:nvPicPr>
        <p:blipFill>
          <a:blip r:embed="rId3"/>
          <a:stretch>
            <a:fillRect/>
          </a:stretch>
        </p:blipFill>
        <p:spPr>
          <a:xfrm>
            <a:off x="995782" y="1818742"/>
            <a:ext cx="294437" cy="294437"/>
          </a:xfrm>
          <a:prstGeom prst="rect">
            <a:avLst/>
          </a:prstGeom>
        </p:spPr>
      </p:pic>
      <p:sp>
        <p:nvSpPr>
          <p:cNvPr id="6" name="Text 3"/>
          <p:cNvSpPr txBox="1"/>
          <p:nvPr/>
        </p:nvSpPr>
        <p:spPr>
          <a:xfrm>
            <a:off x="1645920" y="1645920"/>
            <a:ext cx="2286000" cy="640080"/>
          </a:xfrm>
          <a:prstGeom prst="rect">
            <a:avLst/>
          </a:prstGeom>
          <a:noFill/>
          <a:ln/>
        </p:spPr>
        <p:txBody>
          <a:bodyPr wrap="square" lIns="0" tIns="0" rIns="0" bIns="0" rtlCol="0" anchor="ctr"/>
          <a:lstStyle/>
          <a:p>
            <a:pPr marL="0" indent="0" algn="l">
              <a:buNone/>
            </a:pPr>
            <a:r>
              <a:rPr lang="en-US" sz="1800" b="1" dirty="0">
                <a:solidFill>
                  <a:schemeClr val="tx2"/>
                </a:solidFill>
              </a:rPr>
              <a:t>Scale</a:t>
            </a:r>
            <a:endParaRPr lang="en-US" sz="1800" dirty="0"/>
          </a:p>
        </p:txBody>
      </p:sp>
      <p:sp>
        <p:nvSpPr>
          <p:cNvPr id="7" name="Text 4"/>
          <p:cNvSpPr txBox="1"/>
          <p:nvPr/>
        </p:nvSpPr>
        <p:spPr>
          <a:xfrm>
            <a:off x="822960" y="2468880"/>
            <a:ext cx="3108960" cy="1097280"/>
          </a:xfrm>
          <a:prstGeom prst="rect">
            <a:avLst/>
          </a:prstGeom>
          <a:noFill/>
          <a:ln/>
        </p:spPr>
        <p:txBody>
          <a:bodyPr wrap="square" lIns="0" tIns="0" rIns="0" bIns="0" rtlCol="0" anchor="t"/>
          <a:lstStyle/>
          <a:p>
            <a:pPr marL="0" indent="0" algn="l">
              <a:buNone/>
            </a:pPr>
            <a:r>
              <a:rPr lang="en-US" sz="1400" dirty="0">
                <a:solidFill>
                  <a:schemeClr val="tx1"/>
                </a:solidFill>
              </a:rPr>
              <a:t>500 meters x 1 reading/min is about 720K events a day. Many campuses means millions.</a:t>
            </a:r>
            <a:endParaRPr lang="en-US" sz="1400" dirty="0"/>
          </a:p>
        </p:txBody>
      </p:sp>
      <p:sp>
        <p:nvSpPr>
          <p:cNvPr id="8" name="DesignCard2"/>
          <p:cNvSpPr/>
          <p:nvPr/>
        </p:nvSpPr>
        <p:spPr>
          <a:xfrm>
            <a:off x="4297680" y="1371600"/>
            <a:ext cx="3566160" cy="2286000"/>
          </a:xfrm>
          <a:prstGeom prst="roundRect">
            <a:avLst>
              <a:gd name="adj" fmla="val 4800"/>
            </a:avLst>
          </a:prstGeom>
          <a:solidFill>
            <a:schemeClr val="bg2"/>
          </a:solidFill>
          <a:ln w="12700">
            <a:solidFill>
              <a:schemeClr val="bg2"/>
            </a:solidFill>
            <a:prstDash val="solid"/>
          </a:ln>
          <a:effectLst>
            <a:outerShdw blurRad="76200" dist="25400" dir="5400000" algn="bl" rotWithShape="0">
              <a:srgbClr val="000000">
                <a:alpha val="10000"/>
              </a:srgbClr>
            </a:outerShdw>
          </a:effectLst>
        </p:spPr>
      </p:sp>
      <p:sp>
        <p:nvSpPr>
          <p:cNvPr id="9" name="Shape 6"/>
          <p:cNvSpPr/>
          <p:nvPr/>
        </p:nvSpPr>
        <p:spPr>
          <a:xfrm>
            <a:off x="4572000" y="1645920"/>
            <a:ext cx="640080" cy="640080"/>
          </a:xfrm>
          <a:prstGeom prst="ellipse">
            <a:avLst/>
          </a:prstGeom>
          <a:solidFill>
            <a:schemeClr val="accent1"/>
          </a:solidFill>
          <a:ln w="12700">
            <a:solidFill>
              <a:schemeClr val="accent1"/>
            </a:solidFill>
            <a:prstDash val="solid"/>
          </a:ln>
        </p:spPr>
      </p:sp>
      <p:pic>
        <p:nvPicPr>
          <p:cNvPr id="10" name="Image 1" descr="preencoded.png"/>
          <p:cNvPicPr>
            <a:picLocks noChangeAspect="1"/>
          </p:cNvPicPr>
          <p:nvPr/>
        </p:nvPicPr>
        <p:blipFill>
          <a:blip r:embed="rId4"/>
          <a:stretch>
            <a:fillRect/>
          </a:stretch>
        </p:blipFill>
        <p:spPr>
          <a:xfrm>
            <a:off x="4744822" y="1818742"/>
            <a:ext cx="294437" cy="294437"/>
          </a:xfrm>
          <a:prstGeom prst="rect">
            <a:avLst/>
          </a:prstGeom>
        </p:spPr>
      </p:pic>
      <p:sp>
        <p:nvSpPr>
          <p:cNvPr id="11" name="Text 7"/>
          <p:cNvSpPr txBox="1"/>
          <p:nvPr/>
        </p:nvSpPr>
        <p:spPr>
          <a:xfrm>
            <a:off x="5394960" y="1645920"/>
            <a:ext cx="2286000" cy="640080"/>
          </a:xfrm>
          <a:prstGeom prst="rect">
            <a:avLst/>
          </a:prstGeom>
          <a:noFill/>
          <a:ln/>
        </p:spPr>
        <p:txBody>
          <a:bodyPr wrap="square" lIns="0" tIns="0" rIns="0" bIns="0" rtlCol="0" anchor="ctr"/>
          <a:lstStyle/>
          <a:p>
            <a:pPr marL="0" indent="0" algn="l">
              <a:buNone/>
            </a:pPr>
            <a:r>
              <a:rPr lang="en-US" sz="1800" b="1" dirty="0">
                <a:solidFill>
                  <a:schemeClr val="tx2"/>
                </a:solidFill>
              </a:rPr>
              <a:t>Ingestion under load</a:t>
            </a:r>
            <a:endParaRPr lang="en-US" sz="1800" dirty="0"/>
          </a:p>
        </p:txBody>
      </p:sp>
      <p:sp>
        <p:nvSpPr>
          <p:cNvPr id="12" name="Text 8"/>
          <p:cNvSpPr txBox="1"/>
          <p:nvPr/>
        </p:nvSpPr>
        <p:spPr>
          <a:xfrm>
            <a:off x="4572000" y="2468880"/>
            <a:ext cx="3108960" cy="1097280"/>
          </a:xfrm>
          <a:prstGeom prst="rect">
            <a:avLst/>
          </a:prstGeom>
          <a:noFill/>
          <a:ln/>
        </p:spPr>
        <p:txBody>
          <a:bodyPr wrap="square" lIns="0" tIns="0" rIns="0" bIns="0" rtlCol="0" anchor="t"/>
          <a:lstStyle/>
          <a:p>
            <a:pPr marL="0" indent="0" algn="l">
              <a:buNone/>
            </a:pPr>
            <a:r>
              <a:rPr lang="en-US" sz="1400" dirty="0">
                <a:solidFill>
                  <a:schemeClr val="tx1"/>
                </a:solidFill>
              </a:rPr>
              <a:t>Queues, back-pressure and batching absorb bursts without dropping data.</a:t>
            </a:r>
            <a:endParaRPr lang="en-US" sz="1400" dirty="0"/>
          </a:p>
        </p:txBody>
      </p:sp>
      <p:sp>
        <p:nvSpPr>
          <p:cNvPr id="13" name="DesignCard3"/>
          <p:cNvSpPr/>
          <p:nvPr/>
        </p:nvSpPr>
        <p:spPr>
          <a:xfrm>
            <a:off x="8046720" y="1371600"/>
            <a:ext cx="3566160" cy="2286000"/>
          </a:xfrm>
          <a:prstGeom prst="roundRect">
            <a:avLst>
              <a:gd name="adj" fmla="val 4800"/>
            </a:avLst>
          </a:prstGeom>
          <a:solidFill>
            <a:schemeClr val="bg2"/>
          </a:solidFill>
          <a:ln w="12700">
            <a:solidFill>
              <a:schemeClr val="bg2"/>
            </a:solidFill>
            <a:prstDash val="solid"/>
          </a:ln>
          <a:effectLst>
            <a:outerShdw blurRad="76200" dist="25400" dir="5400000" algn="bl" rotWithShape="0">
              <a:srgbClr val="000000">
                <a:alpha val="10000"/>
              </a:srgbClr>
            </a:outerShdw>
          </a:effectLst>
        </p:spPr>
      </p:sp>
      <p:sp>
        <p:nvSpPr>
          <p:cNvPr id="14" name="Shape 10"/>
          <p:cNvSpPr/>
          <p:nvPr/>
        </p:nvSpPr>
        <p:spPr>
          <a:xfrm>
            <a:off x="8321040" y="1645920"/>
            <a:ext cx="640080" cy="640080"/>
          </a:xfrm>
          <a:prstGeom prst="ellipse">
            <a:avLst/>
          </a:prstGeom>
          <a:solidFill>
            <a:schemeClr val="accent1"/>
          </a:solidFill>
          <a:ln w="12700">
            <a:solidFill>
              <a:schemeClr val="accent1"/>
            </a:solidFill>
            <a:prstDash val="solid"/>
          </a:ln>
        </p:spPr>
      </p:sp>
      <p:pic>
        <p:nvPicPr>
          <p:cNvPr id="15" name="Image 2" descr="preencoded.png"/>
          <p:cNvPicPr>
            <a:picLocks noChangeAspect="1"/>
          </p:cNvPicPr>
          <p:nvPr/>
        </p:nvPicPr>
        <p:blipFill>
          <a:blip r:embed="rId5"/>
          <a:stretch>
            <a:fillRect/>
          </a:stretch>
        </p:blipFill>
        <p:spPr>
          <a:xfrm>
            <a:off x="8493862" y="1818742"/>
            <a:ext cx="294437" cy="294437"/>
          </a:xfrm>
          <a:prstGeom prst="rect">
            <a:avLst/>
          </a:prstGeom>
        </p:spPr>
      </p:pic>
      <p:sp>
        <p:nvSpPr>
          <p:cNvPr id="16" name="Text 11"/>
          <p:cNvSpPr txBox="1"/>
          <p:nvPr/>
        </p:nvSpPr>
        <p:spPr>
          <a:xfrm>
            <a:off x="9144000" y="1645920"/>
            <a:ext cx="2286000" cy="640080"/>
          </a:xfrm>
          <a:prstGeom prst="rect">
            <a:avLst/>
          </a:prstGeom>
          <a:noFill/>
          <a:ln/>
        </p:spPr>
        <p:txBody>
          <a:bodyPr wrap="square" lIns="0" tIns="0" rIns="0" bIns="0" rtlCol="0" anchor="ctr"/>
          <a:lstStyle/>
          <a:p>
            <a:pPr marL="0" indent="0" algn="l">
              <a:buNone/>
            </a:pPr>
            <a:r>
              <a:rPr lang="en-US" sz="1800" b="1" dirty="0">
                <a:solidFill>
                  <a:schemeClr val="tx2"/>
                </a:solidFill>
              </a:rPr>
              <a:t>Time-series storage</a:t>
            </a:r>
            <a:endParaRPr lang="en-US" sz="1800" dirty="0"/>
          </a:p>
        </p:txBody>
      </p:sp>
      <p:sp>
        <p:nvSpPr>
          <p:cNvPr id="17" name="Text 12"/>
          <p:cNvSpPr txBox="1"/>
          <p:nvPr/>
        </p:nvSpPr>
        <p:spPr>
          <a:xfrm>
            <a:off x="8321040" y="2468880"/>
            <a:ext cx="3108960" cy="1097280"/>
          </a:xfrm>
          <a:prstGeom prst="rect">
            <a:avLst/>
          </a:prstGeom>
          <a:noFill/>
          <a:ln/>
        </p:spPr>
        <p:txBody>
          <a:bodyPr wrap="square" lIns="0" tIns="0" rIns="0" bIns="0" rtlCol="0" anchor="t"/>
          <a:lstStyle/>
          <a:p>
            <a:pPr marL="0" indent="0" algn="l">
              <a:buNone/>
            </a:pPr>
            <a:r>
              <a:rPr lang="en-US" sz="1400" dirty="0">
                <a:solidFill>
                  <a:schemeClr val="tx1"/>
                </a:solidFill>
              </a:rPr>
              <a:t>Retention and downsampling: raw data for 7 days, hourly rollups for 1 year.</a:t>
            </a:r>
            <a:endParaRPr lang="en-US" sz="1400" dirty="0"/>
          </a:p>
        </p:txBody>
      </p:sp>
      <p:sp>
        <p:nvSpPr>
          <p:cNvPr id="18" name="DesignCard4"/>
          <p:cNvSpPr/>
          <p:nvPr/>
        </p:nvSpPr>
        <p:spPr>
          <a:xfrm>
            <a:off x="548640" y="3840480"/>
            <a:ext cx="3566160" cy="2286000"/>
          </a:xfrm>
          <a:prstGeom prst="roundRect">
            <a:avLst>
              <a:gd name="adj" fmla="val 4800"/>
            </a:avLst>
          </a:prstGeom>
          <a:solidFill>
            <a:schemeClr val="bg2"/>
          </a:solidFill>
          <a:ln w="12700">
            <a:solidFill>
              <a:schemeClr val="bg2"/>
            </a:solidFill>
            <a:prstDash val="solid"/>
          </a:ln>
          <a:effectLst>
            <a:outerShdw blurRad="76200" dist="25400" dir="5400000" algn="bl" rotWithShape="0">
              <a:srgbClr val="000000">
                <a:alpha val="10000"/>
              </a:srgbClr>
            </a:outerShdw>
          </a:effectLst>
        </p:spPr>
      </p:sp>
      <p:sp>
        <p:nvSpPr>
          <p:cNvPr id="19" name="Shape 14"/>
          <p:cNvSpPr/>
          <p:nvPr/>
        </p:nvSpPr>
        <p:spPr>
          <a:xfrm>
            <a:off x="822960" y="4114800"/>
            <a:ext cx="640080" cy="640080"/>
          </a:xfrm>
          <a:prstGeom prst="ellipse">
            <a:avLst/>
          </a:prstGeom>
          <a:solidFill>
            <a:schemeClr val="accent1"/>
          </a:solidFill>
          <a:ln w="12700">
            <a:solidFill>
              <a:schemeClr val="accent1"/>
            </a:solidFill>
            <a:prstDash val="solid"/>
          </a:ln>
        </p:spPr>
      </p:sp>
      <p:pic>
        <p:nvPicPr>
          <p:cNvPr id="20" name="Image 3" descr="preencoded.png"/>
          <p:cNvPicPr>
            <a:picLocks noChangeAspect="1"/>
          </p:cNvPicPr>
          <p:nvPr/>
        </p:nvPicPr>
        <p:blipFill>
          <a:blip r:embed="rId6"/>
          <a:stretch>
            <a:fillRect/>
          </a:stretch>
        </p:blipFill>
        <p:spPr>
          <a:xfrm>
            <a:off x="995782" y="4287622"/>
            <a:ext cx="294437" cy="294437"/>
          </a:xfrm>
          <a:prstGeom prst="rect">
            <a:avLst/>
          </a:prstGeom>
        </p:spPr>
      </p:pic>
      <p:sp>
        <p:nvSpPr>
          <p:cNvPr id="21" name="Text 15"/>
          <p:cNvSpPr txBox="1"/>
          <p:nvPr/>
        </p:nvSpPr>
        <p:spPr>
          <a:xfrm>
            <a:off x="1645920" y="4114800"/>
            <a:ext cx="2286000" cy="640080"/>
          </a:xfrm>
          <a:prstGeom prst="rect">
            <a:avLst/>
          </a:prstGeom>
          <a:noFill/>
          <a:ln/>
        </p:spPr>
        <p:txBody>
          <a:bodyPr wrap="square" lIns="0" tIns="0" rIns="0" bIns="0" rtlCol="0" anchor="ctr"/>
          <a:lstStyle/>
          <a:p>
            <a:pPr marL="0" indent="0" algn="l">
              <a:buNone/>
            </a:pPr>
            <a:r>
              <a:rPr lang="en-US" sz="1800" b="1" dirty="0">
                <a:solidFill>
                  <a:schemeClr val="tx2"/>
                </a:solidFill>
              </a:rPr>
              <a:t>Reliability</a:t>
            </a:r>
            <a:endParaRPr lang="en-US" sz="1800" dirty="0"/>
          </a:p>
        </p:txBody>
      </p:sp>
      <p:sp>
        <p:nvSpPr>
          <p:cNvPr id="22" name="Text 16"/>
          <p:cNvSpPr txBox="1"/>
          <p:nvPr/>
        </p:nvSpPr>
        <p:spPr>
          <a:xfrm>
            <a:off x="822960" y="4937760"/>
            <a:ext cx="3108960" cy="1097280"/>
          </a:xfrm>
          <a:prstGeom prst="rect">
            <a:avLst/>
          </a:prstGeom>
          <a:noFill/>
          <a:ln/>
        </p:spPr>
        <p:txBody>
          <a:bodyPr wrap="square" lIns="0" tIns="0" rIns="0" bIns="0" rtlCol="0" anchor="t"/>
          <a:lstStyle/>
          <a:p>
            <a:pPr marL="0" indent="0" algn="l">
              <a:buNone/>
            </a:pPr>
            <a:r>
              <a:rPr lang="en-US" sz="1400" dirty="0">
                <a:solidFill>
                  <a:schemeClr val="tx1"/>
                </a:solidFill>
              </a:rPr>
              <a:t>At-least-once delivery with idempotent writes. Nothing is lost if a service goes down.</a:t>
            </a:r>
            <a:endParaRPr lang="en-US" sz="1400" dirty="0"/>
          </a:p>
        </p:txBody>
      </p:sp>
      <p:sp>
        <p:nvSpPr>
          <p:cNvPr id="23" name="DesignCard5"/>
          <p:cNvSpPr/>
          <p:nvPr/>
        </p:nvSpPr>
        <p:spPr>
          <a:xfrm>
            <a:off x="4297680" y="3840480"/>
            <a:ext cx="3566160" cy="2286000"/>
          </a:xfrm>
          <a:prstGeom prst="roundRect">
            <a:avLst>
              <a:gd name="adj" fmla="val 4800"/>
            </a:avLst>
          </a:prstGeom>
          <a:solidFill>
            <a:schemeClr val="bg2"/>
          </a:solidFill>
          <a:ln w="12700">
            <a:solidFill>
              <a:schemeClr val="bg2"/>
            </a:solidFill>
            <a:prstDash val="solid"/>
          </a:ln>
          <a:effectLst>
            <a:outerShdw blurRad="76200" dist="25400" dir="5400000" algn="bl" rotWithShape="0">
              <a:srgbClr val="000000">
                <a:alpha val="10000"/>
              </a:srgbClr>
            </a:outerShdw>
          </a:effectLst>
        </p:spPr>
      </p:sp>
      <p:sp>
        <p:nvSpPr>
          <p:cNvPr id="24" name="Shape 18"/>
          <p:cNvSpPr/>
          <p:nvPr/>
        </p:nvSpPr>
        <p:spPr>
          <a:xfrm>
            <a:off x="4572000" y="4114800"/>
            <a:ext cx="640080" cy="640080"/>
          </a:xfrm>
          <a:prstGeom prst="ellipse">
            <a:avLst/>
          </a:prstGeom>
          <a:solidFill>
            <a:schemeClr val="accent1"/>
          </a:solidFill>
          <a:ln w="12700">
            <a:solidFill>
              <a:schemeClr val="accent1"/>
            </a:solidFill>
            <a:prstDash val="solid"/>
          </a:ln>
        </p:spPr>
      </p:sp>
      <p:pic>
        <p:nvPicPr>
          <p:cNvPr id="25" name="Image 4" descr="preencoded.png"/>
          <p:cNvPicPr>
            <a:picLocks noChangeAspect="1"/>
          </p:cNvPicPr>
          <p:nvPr/>
        </p:nvPicPr>
        <p:blipFill>
          <a:blip r:embed="rId7"/>
          <a:stretch>
            <a:fillRect/>
          </a:stretch>
        </p:blipFill>
        <p:spPr>
          <a:xfrm>
            <a:off x="4744822" y="4287622"/>
            <a:ext cx="294437" cy="294437"/>
          </a:xfrm>
          <a:prstGeom prst="rect">
            <a:avLst/>
          </a:prstGeom>
        </p:spPr>
      </p:pic>
      <p:sp>
        <p:nvSpPr>
          <p:cNvPr id="26" name="Text 19"/>
          <p:cNvSpPr txBox="1"/>
          <p:nvPr/>
        </p:nvSpPr>
        <p:spPr>
          <a:xfrm>
            <a:off x="5394960" y="4114800"/>
            <a:ext cx="2286000" cy="640080"/>
          </a:xfrm>
          <a:prstGeom prst="rect">
            <a:avLst/>
          </a:prstGeom>
          <a:noFill/>
          <a:ln/>
        </p:spPr>
        <p:txBody>
          <a:bodyPr wrap="square" lIns="0" tIns="0" rIns="0" bIns="0" rtlCol="0" anchor="ctr"/>
          <a:lstStyle/>
          <a:p>
            <a:pPr marL="0" indent="0" algn="l">
              <a:buNone/>
            </a:pPr>
            <a:r>
              <a:rPr lang="en-US" sz="1800" b="1" dirty="0">
                <a:solidFill>
                  <a:schemeClr val="tx2"/>
                </a:solidFill>
              </a:rPr>
              <a:t>Real-time vs batch</a:t>
            </a:r>
            <a:endParaRPr lang="en-US" sz="1800" dirty="0"/>
          </a:p>
        </p:txBody>
      </p:sp>
      <p:sp>
        <p:nvSpPr>
          <p:cNvPr id="27" name="Text 20"/>
          <p:cNvSpPr txBox="1"/>
          <p:nvPr/>
        </p:nvSpPr>
        <p:spPr>
          <a:xfrm>
            <a:off x="4572000" y="4937760"/>
            <a:ext cx="3108960" cy="1097280"/>
          </a:xfrm>
          <a:prstGeom prst="rect">
            <a:avLst/>
          </a:prstGeom>
          <a:noFill/>
          <a:ln/>
        </p:spPr>
        <p:txBody>
          <a:bodyPr wrap="square" lIns="0" tIns="0" rIns="0" bIns="0" rtlCol="0" anchor="t"/>
          <a:lstStyle/>
          <a:p>
            <a:pPr marL="0" indent="0" algn="l">
              <a:buNone/>
            </a:pPr>
            <a:r>
              <a:rPr lang="en-US" sz="1400" dirty="0">
                <a:solidFill>
                  <a:schemeClr val="tx1"/>
                </a:solidFill>
              </a:rPr>
              <a:t>Alerts in seconds from the stream. Audit reports nightly from batch jobs.</a:t>
            </a:r>
            <a:endParaRPr lang="en-US" sz="1400" dirty="0"/>
          </a:p>
        </p:txBody>
      </p:sp>
      <p:sp>
        <p:nvSpPr>
          <p:cNvPr id="29" name="Shape 22"/>
          <p:cNvSpPr/>
          <p:nvPr/>
        </p:nvSpPr>
        <p:spPr>
          <a:xfrm>
            <a:off x="8321040" y="4114800"/>
            <a:ext cx="640080" cy="640080"/>
          </a:xfrm>
          <a:prstGeom prst="ellipse">
            <a:avLst/>
          </a:prstGeom>
          <a:solidFill>
            <a:schemeClr val="accent2"/>
          </a:solidFill>
          <a:ln w="12700">
            <a:solidFill>
              <a:schemeClr val="accent2"/>
            </a:solidFill>
            <a:prstDash val="solid"/>
          </a:ln>
        </p:spPr>
      </p:sp>
      <p:pic>
        <p:nvPicPr>
          <p:cNvPr id="30" name="Image 5" descr="preencoded.png"/>
          <p:cNvPicPr>
            <a:picLocks noChangeAspect="1"/>
          </p:cNvPicPr>
          <p:nvPr/>
        </p:nvPicPr>
        <p:blipFill>
          <a:blip r:embed="rId8"/>
          <a:stretch>
            <a:fillRect/>
          </a:stretch>
        </p:blipFill>
        <p:spPr>
          <a:xfrm>
            <a:off x="8493862" y="4287622"/>
            <a:ext cx="294437" cy="294437"/>
          </a:xfrm>
          <a:prstGeom prst="rect">
            <a:avLst/>
          </a:prstGeom>
        </p:spPr>
      </p:pic>
      <p:sp>
        <p:nvSpPr>
          <p:cNvPr id="32" name="Text 24"/>
          <p:cNvSpPr txBox="1"/>
          <p:nvPr/>
        </p:nvSpPr>
        <p:spPr>
          <a:xfrm>
            <a:off x="8321040" y="4937760"/>
            <a:ext cx="3108960" cy="1097280"/>
          </a:xfrm>
          <a:prstGeom prst="rect">
            <a:avLst/>
          </a:prstGeom>
          <a:noFill/>
          <a:ln/>
        </p:spPr>
        <p:txBody>
          <a:bodyPr wrap="square" lIns="0" tIns="0" rIns="0" bIns="0" rtlCol="0" anchor="t"/>
          <a:lstStyle/>
          <a:p>
            <a:pPr marL="0" indent="0" algn="l">
              <a:buNone/>
            </a:pPr>
            <a:r>
              <a:rPr lang="en-US" sz="1400" dirty="0">
                <a:solidFill>
                  <a:schemeClr val="bg1"/>
                </a:solidFill>
              </a:rPr>
              <a:t>SQL vs time-series DB, Kafka vs RabbitMQ, monolith vs </a:t>
            </a:r>
            <a:r>
              <a:rPr lang="en-US" sz="1400" dirty="0" err="1">
                <a:solidFill>
                  <a:schemeClr val="bg1"/>
                </a:solidFill>
              </a:rPr>
              <a:t>microserices</a:t>
            </a:r>
            <a:r>
              <a:rPr lang="en-US" sz="1400" dirty="0">
                <a:solidFill>
                  <a:schemeClr val="bg1"/>
                </a:solidFill>
              </a:rPr>
              <a:t> ML vs rule-based detection</a:t>
            </a:r>
            <a:endParaRPr lang="en-US" sz="1400" dirty="0"/>
          </a:p>
        </p:txBody>
      </p:sp>
      <p:sp>
        <p:nvSpPr>
          <p:cNvPr id="33"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1"/>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chemeClr val="tx2"/>
                </a:solidFill>
              </a:rPr>
              <a:t>Expected Impact and sustainability</a:t>
            </a:r>
            <a:endParaRPr lang="en-US" sz="3600" dirty="0"/>
          </a:p>
        </p:txBody>
      </p:sp>
      <p:sp>
        <p:nvSpPr>
          <p:cNvPr id="3" name="StatCard1"/>
          <p:cNvSpPr/>
          <p:nvPr/>
        </p:nvSpPr>
        <p:spPr>
          <a:xfrm>
            <a:off x="548640" y="1463040"/>
            <a:ext cx="3566160" cy="2286000"/>
          </a:xfrm>
          <a:prstGeom prst="roundRect">
            <a:avLst>
              <a:gd name="adj" fmla="val 4800"/>
            </a:avLst>
          </a:prstGeom>
          <a:solidFill>
            <a:schemeClr val="bg2"/>
          </a:solidFill>
          <a:ln w="12700">
            <a:solidFill>
              <a:schemeClr val="bg2"/>
            </a:solidFill>
            <a:prstDash val="solid"/>
          </a:ln>
          <a:effectLst>
            <a:outerShdw blurRad="76200" dist="25400" dir="5400000" algn="bl" rotWithShape="0">
              <a:srgbClr val="000000">
                <a:alpha val="10000"/>
              </a:srgbClr>
            </a:outerShdw>
          </a:effectLst>
        </p:spPr>
      </p:sp>
      <p:sp>
        <p:nvSpPr>
          <p:cNvPr id="4" name="Text 2"/>
          <p:cNvSpPr txBox="1"/>
          <p:nvPr/>
        </p:nvSpPr>
        <p:spPr>
          <a:xfrm>
            <a:off x="822960" y="1691640"/>
            <a:ext cx="3017520" cy="914400"/>
          </a:xfrm>
          <a:prstGeom prst="rect">
            <a:avLst/>
          </a:prstGeom>
          <a:noFill/>
          <a:ln/>
        </p:spPr>
        <p:txBody>
          <a:bodyPr wrap="square" lIns="0" tIns="0" rIns="0" bIns="0" rtlCol="0" anchor="ctr"/>
          <a:lstStyle/>
          <a:p>
            <a:pPr marL="0" indent="0" algn="l">
              <a:buNone/>
            </a:pPr>
            <a:r>
              <a:rPr lang="en-US" sz="4400" b="1" dirty="0">
                <a:solidFill>
                  <a:schemeClr val="accent1"/>
                </a:solidFill>
                <a:latin typeface="Cambria" pitchFamily="34" charset="0"/>
                <a:ea typeface="Cambria" pitchFamily="34" charset="-122"/>
                <a:cs typeface="Cambria" pitchFamily="34" charset="-120"/>
              </a:rPr>
              <a:t>10-15%</a:t>
            </a:r>
            <a:endParaRPr lang="en-US" sz="4400" dirty="0"/>
          </a:p>
        </p:txBody>
      </p:sp>
      <p:sp>
        <p:nvSpPr>
          <p:cNvPr id="5" name="Text 3"/>
          <p:cNvSpPr txBox="1"/>
          <p:nvPr/>
        </p:nvSpPr>
        <p:spPr>
          <a:xfrm>
            <a:off x="822960" y="2743200"/>
            <a:ext cx="3017520" cy="914400"/>
          </a:xfrm>
          <a:prstGeom prst="rect">
            <a:avLst/>
          </a:prstGeom>
          <a:noFill/>
          <a:ln/>
        </p:spPr>
        <p:txBody>
          <a:bodyPr wrap="square" lIns="0" tIns="0" rIns="0" bIns="0" rtlCol="0" anchor="t"/>
          <a:lstStyle/>
          <a:p>
            <a:pPr marL="0" indent="0" algn="l">
              <a:buNone/>
            </a:pPr>
            <a:r>
              <a:rPr lang="en-US" sz="1600" dirty="0">
                <a:solidFill>
                  <a:schemeClr val="tx1"/>
                </a:solidFill>
              </a:rPr>
              <a:t>Target cut in wasted energy and electricity bill</a:t>
            </a:r>
            <a:endParaRPr lang="en-US" sz="1600" dirty="0"/>
          </a:p>
        </p:txBody>
      </p:sp>
      <p:sp>
        <p:nvSpPr>
          <p:cNvPr id="6" name="StatCard2"/>
          <p:cNvSpPr/>
          <p:nvPr/>
        </p:nvSpPr>
        <p:spPr>
          <a:xfrm>
            <a:off x="4297680" y="1463040"/>
            <a:ext cx="3566160" cy="2286000"/>
          </a:xfrm>
          <a:prstGeom prst="roundRect">
            <a:avLst>
              <a:gd name="adj" fmla="val 4800"/>
            </a:avLst>
          </a:prstGeom>
          <a:solidFill>
            <a:schemeClr val="bg2"/>
          </a:solidFill>
          <a:ln w="12700">
            <a:solidFill>
              <a:schemeClr val="bg2"/>
            </a:solidFill>
            <a:prstDash val="solid"/>
          </a:ln>
          <a:effectLst>
            <a:outerShdw blurRad="76200" dist="25400" dir="5400000" algn="bl" rotWithShape="0">
              <a:srgbClr val="000000">
                <a:alpha val="10000"/>
              </a:srgbClr>
            </a:outerShdw>
          </a:effectLst>
        </p:spPr>
      </p:sp>
      <p:sp>
        <p:nvSpPr>
          <p:cNvPr id="7" name="Text 5"/>
          <p:cNvSpPr txBox="1"/>
          <p:nvPr/>
        </p:nvSpPr>
        <p:spPr>
          <a:xfrm>
            <a:off x="4572000" y="1691640"/>
            <a:ext cx="3017520" cy="914400"/>
          </a:xfrm>
          <a:prstGeom prst="rect">
            <a:avLst/>
          </a:prstGeom>
          <a:noFill/>
          <a:ln/>
        </p:spPr>
        <p:txBody>
          <a:bodyPr wrap="square" lIns="0" tIns="0" rIns="0" bIns="0" rtlCol="0" anchor="ctr"/>
          <a:lstStyle/>
          <a:p>
            <a:pPr marL="0" indent="0" algn="l">
              <a:buNone/>
            </a:pPr>
            <a:r>
              <a:rPr lang="en-US" sz="4400" b="1" dirty="0">
                <a:solidFill>
                  <a:schemeClr val="accent1"/>
                </a:solidFill>
                <a:latin typeface="Cambria" pitchFamily="34" charset="0"/>
                <a:ea typeface="Cambria" pitchFamily="34" charset="-122"/>
                <a:cs typeface="Cambria" pitchFamily="34" charset="-120"/>
              </a:rPr>
              <a:t>24.8 kWh</a:t>
            </a:r>
            <a:endParaRPr lang="en-US" sz="4400" dirty="0"/>
          </a:p>
        </p:txBody>
      </p:sp>
      <p:sp>
        <p:nvSpPr>
          <p:cNvPr id="8" name="Text 6"/>
          <p:cNvSpPr txBox="1"/>
          <p:nvPr/>
        </p:nvSpPr>
        <p:spPr>
          <a:xfrm>
            <a:off x="4572000" y="2743200"/>
            <a:ext cx="3017520" cy="914400"/>
          </a:xfrm>
          <a:prstGeom prst="rect">
            <a:avLst/>
          </a:prstGeom>
          <a:noFill/>
          <a:ln/>
        </p:spPr>
        <p:txBody>
          <a:bodyPr wrap="square" lIns="0" tIns="0" rIns="0" bIns="0" rtlCol="0" anchor="t"/>
          <a:lstStyle/>
          <a:p>
            <a:pPr marL="0" indent="0" algn="l">
              <a:buNone/>
            </a:pPr>
            <a:r>
              <a:rPr lang="en-US" sz="1600" dirty="0">
                <a:solidFill>
                  <a:schemeClr val="tx1"/>
                </a:solidFill>
              </a:rPr>
              <a:t>Saved in one night in one room (Hall 204 example)</a:t>
            </a:r>
            <a:endParaRPr lang="en-US" sz="1600" dirty="0"/>
          </a:p>
        </p:txBody>
      </p:sp>
      <p:sp>
        <p:nvSpPr>
          <p:cNvPr id="9" name="StatCard3"/>
          <p:cNvSpPr/>
          <p:nvPr/>
        </p:nvSpPr>
        <p:spPr>
          <a:xfrm>
            <a:off x="8046720" y="1463040"/>
            <a:ext cx="3566160" cy="2286000"/>
          </a:xfrm>
          <a:prstGeom prst="roundRect">
            <a:avLst>
              <a:gd name="adj" fmla="val 4800"/>
            </a:avLst>
          </a:prstGeom>
          <a:solidFill>
            <a:schemeClr val="bg2"/>
          </a:solidFill>
          <a:ln w="12700">
            <a:solidFill>
              <a:schemeClr val="bg2"/>
            </a:solidFill>
            <a:prstDash val="solid"/>
          </a:ln>
          <a:effectLst>
            <a:outerShdw blurRad="76200" dist="25400" dir="5400000" algn="bl" rotWithShape="0">
              <a:srgbClr val="000000">
                <a:alpha val="10000"/>
              </a:srgbClr>
            </a:outerShdw>
          </a:effectLst>
        </p:spPr>
      </p:sp>
      <p:sp>
        <p:nvSpPr>
          <p:cNvPr id="10" name="Text 8"/>
          <p:cNvSpPr txBox="1"/>
          <p:nvPr/>
        </p:nvSpPr>
        <p:spPr>
          <a:xfrm>
            <a:off x="8321040" y="1691640"/>
            <a:ext cx="3017520" cy="914400"/>
          </a:xfrm>
          <a:prstGeom prst="rect">
            <a:avLst/>
          </a:prstGeom>
          <a:noFill/>
          <a:ln/>
        </p:spPr>
        <p:txBody>
          <a:bodyPr wrap="square" lIns="0" tIns="0" rIns="0" bIns="0" rtlCol="0" anchor="ctr"/>
          <a:lstStyle/>
          <a:p>
            <a:pPr marL="0" indent="0" algn="l">
              <a:buNone/>
            </a:pPr>
            <a:r>
              <a:rPr lang="en-US" sz="4400" b="1" dirty="0">
                <a:solidFill>
                  <a:schemeClr val="accent1"/>
                </a:solidFill>
                <a:latin typeface="Cambria" pitchFamily="34" charset="0"/>
                <a:ea typeface="Cambria" pitchFamily="34" charset="-122"/>
                <a:cs typeface="Cambria" pitchFamily="34" charset="-120"/>
              </a:rPr>
              <a:t>CO2 down</a:t>
            </a:r>
            <a:endParaRPr lang="en-US" sz="4400" dirty="0"/>
          </a:p>
        </p:txBody>
      </p:sp>
      <p:sp>
        <p:nvSpPr>
          <p:cNvPr id="11" name="Text 9"/>
          <p:cNvSpPr txBox="1"/>
          <p:nvPr/>
        </p:nvSpPr>
        <p:spPr>
          <a:xfrm>
            <a:off x="8321040" y="2743200"/>
            <a:ext cx="3017520" cy="914400"/>
          </a:xfrm>
          <a:prstGeom prst="rect">
            <a:avLst/>
          </a:prstGeom>
          <a:noFill/>
          <a:ln/>
        </p:spPr>
        <p:txBody>
          <a:bodyPr wrap="square" lIns="0" tIns="0" rIns="0" bIns="0" rtlCol="0" anchor="t"/>
          <a:lstStyle/>
          <a:p>
            <a:pPr marL="0" indent="0" algn="l">
              <a:buNone/>
            </a:pPr>
            <a:r>
              <a:rPr lang="en-US" sz="1600" dirty="0">
                <a:solidFill>
                  <a:schemeClr val="tx1"/>
                </a:solidFill>
              </a:rPr>
              <a:t>Emissions avoided = kWh saved x grid emission factor</a:t>
            </a:r>
            <a:endParaRPr lang="en-US" sz="1600" dirty="0"/>
          </a:p>
        </p:txBody>
      </p:sp>
      <p:sp>
        <p:nvSpPr>
          <p:cNvPr id="12" name="ImpactPanel"/>
          <p:cNvSpPr/>
          <p:nvPr/>
        </p:nvSpPr>
        <p:spPr>
          <a:xfrm>
            <a:off x="548640" y="4114800"/>
            <a:ext cx="11064240" cy="2103120"/>
          </a:xfrm>
          <a:prstGeom prst="roundRect">
            <a:avLst>
              <a:gd name="adj" fmla="val 5217"/>
            </a:avLst>
          </a:prstGeom>
          <a:solidFill>
            <a:schemeClr val="tx2"/>
          </a:solidFill>
          <a:ln w="12700">
            <a:solidFill>
              <a:schemeClr val="tx2"/>
            </a:solidFill>
            <a:prstDash val="solid"/>
          </a:ln>
        </p:spPr>
      </p:sp>
      <p:sp>
        <p:nvSpPr>
          <p:cNvPr id="13" name="Shape 11"/>
          <p:cNvSpPr/>
          <p:nvPr/>
        </p:nvSpPr>
        <p:spPr>
          <a:xfrm>
            <a:off x="822960" y="4572000"/>
            <a:ext cx="731520" cy="731520"/>
          </a:xfrm>
          <a:prstGeom prst="ellipse">
            <a:avLst/>
          </a:prstGeom>
          <a:solidFill>
            <a:schemeClr val="accent2"/>
          </a:solidFill>
          <a:ln w="12700">
            <a:solidFill>
              <a:schemeClr val="accent2"/>
            </a:solidFill>
            <a:prstDash val="solid"/>
          </a:ln>
        </p:spPr>
      </p:sp>
      <p:pic>
        <p:nvPicPr>
          <p:cNvPr id="14" name="Image 0" descr="preencoded.png"/>
          <p:cNvPicPr>
            <a:picLocks noChangeAspect="1"/>
          </p:cNvPicPr>
          <p:nvPr/>
        </p:nvPicPr>
        <p:blipFill>
          <a:blip r:embed="rId3"/>
          <a:stretch>
            <a:fillRect/>
          </a:stretch>
        </p:blipFill>
        <p:spPr>
          <a:xfrm>
            <a:off x="1020470" y="4769510"/>
            <a:ext cx="336499" cy="336499"/>
          </a:xfrm>
          <a:prstGeom prst="rect">
            <a:avLst/>
          </a:prstGeom>
        </p:spPr>
      </p:pic>
      <p:sp>
        <p:nvSpPr>
          <p:cNvPr id="15" name="Text 12"/>
          <p:cNvSpPr txBox="1"/>
          <p:nvPr/>
        </p:nvSpPr>
        <p:spPr>
          <a:xfrm>
            <a:off x="822960" y="5486400"/>
            <a:ext cx="3200400" cy="640080"/>
          </a:xfrm>
          <a:prstGeom prst="rect">
            <a:avLst/>
          </a:prstGeom>
          <a:noFill/>
          <a:ln/>
        </p:spPr>
        <p:txBody>
          <a:bodyPr wrap="square" lIns="0" tIns="0" rIns="0" bIns="0" rtlCol="0" anchor="t"/>
          <a:lstStyle/>
          <a:p>
            <a:pPr marL="0" indent="0" algn="l">
              <a:buNone/>
            </a:pPr>
            <a:r>
              <a:rPr lang="en-US" sz="1600" dirty="0">
                <a:solidFill>
                  <a:schemeClr val="bg1"/>
                </a:solidFill>
              </a:rPr>
              <a:t>Lower electricity cost for the campus</a:t>
            </a:r>
            <a:endParaRPr lang="en-US" sz="1600" dirty="0"/>
          </a:p>
        </p:txBody>
      </p:sp>
      <p:sp>
        <p:nvSpPr>
          <p:cNvPr id="16" name="Shape 13"/>
          <p:cNvSpPr/>
          <p:nvPr/>
        </p:nvSpPr>
        <p:spPr>
          <a:xfrm>
            <a:off x="4480560" y="4572000"/>
            <a:ext cx="731520" cy="731520"/>
          </a:xfrm>
          <a:prstGeom prst="ellipse">
            <a:avLst/>
          </a:prstGeom>
          <a:solidFill>
            <a:schemeClr val="accent2"/>
          </a:solidFill>
          <a:ln w="12700">
            <a:solidFill>
              <a:schemeClr val="accent2"/>
            </a:solidFill>
            <a:prstDash val="solid"/>
          </a:ln>
        </p:spPr>
      </p:sp>
      <p:pic>
        <p:nvPicPr>
          <p:cNvPr id="17" name="Image 1" descr="preencoded.png"/>
          <p:cNvPicPr>
            <a:picLocks noChangeAspect="1"/>
          </p:cNvPicPr>
          <p:nvPr/>
        </p:nvPicPr>
        <p:blipFill>
          <a:blip r:embed="rId4"/>
          <a:stretch>
            <a:fillRect/>
          </a:stretch>
        </p:blipFill>
        <p:spPr>
          <a:xfrm>
            <a:off x="4678070" y="4769510"/>
            <a:ext cx="336499" cy="336499"/>
          </a:xfrm>
          <a:prstGeom prst="rect">
            <a:avLst/>
          </a:prstGeom>
        </p:spPr>
      </p:pic>
      <p:sp>
        <p:nvSpPr>
          <p:cNvPr id="18" name="Text 14"/>
          <p:cNvSpPr txBox="1"/>
          <p:nvPr/>
        </p:nvSpPr>
        <p:spPr>
          <a:xfrm>
            <a:off x="4480560" y="5486400"/>
            <a:ext cx="3200400" cy="640080"/>
          </a:xfrm>
          <a:prstGeom prst="rect">
            <a:avLst/>
          </a:prstGeom>
          <a:noFill/>
          <a:ln/>
        </p:spPr>
        <p:txBody>
          <a:bodyPr wrap="square" lIns="0" tIns="0" rIns="0" bIns="0" rtlCol="0" anchor="t"/>
          <a:lstStyle/>
          <a:p>
            <a:pPr marL="0" indent="0" algn="l">
              <a:buNone/>
            </a:pPr>
            <a:r>
              <a:rPr lang="en-US" sz="1600" dirty="0">
                <a:solidFill>
                  <a:schemeClr val="bg1"/>
                </a:solidFill>
              </a:rPr>
              <a:t>Hostel leaderboards build awareness and habits</a:t>
            </a:r>
            <a:endParaRPr lang="en-US" sz="1600" dirty="0"/>
          </a:p>
        </p:txBody>
      </p:sp>
      <p:sp>
        <p:nvSpPr>
          <p:cNvPr id="19" name="Shape 15"/>
          <p:cNvSpPr/>
          <p:nvPr/>
        </p:nvSpPr>
        <p:spPr>
          <a:xfrm>
            <a:off x="8138160" y="4572000"/>
            <a:ext cx="731520" cy="731520"/>
          </a:xfrm>
          <a:prstGeom prst="ellipse">
            <a:avLst/>
          </a:prstGeom>
          <a:solidFill>
            <a:schemeClr val="accent2"/>
          </a:solidFill>
          <a:ln w="12700">
            <a:solidFill>
              <a:schemeClr val="accent2"/>
            </a:solidFill>
            <a:prstDash val="solid"/>
          </a:ln>
        </p:spPr>
      </p:sp>
      <p:pic>
        <p:nvPicPr>
          <p:cNvPr id="20" name="Image 2" descr="preencoded.png"/>
          <p:cNvPicPr>
            <a:picLocks noChangeAspect="1"/>
          </p:cNvPicPr>
          <p:nvPr/>
        </p:nvPicPr>
        <p:blipFill>
          <a:blip r:embed="rId5"/>
          <a:stretch>
            <a:fillRect/>
          </a:stretch>
        </p:blipFill>
        <p:spPr>
          <a:xfrm>
            <a:off x="8335670" y="4769510"/>
            <a:ext cx="336499" cy="336499"/>
          </a:xfrm>
          <a:prstGeom prst="rect">
            <a:avLst/>
          </a:prstGeom>
        </p:spPr>
      </p:pic>
      <p:sp>
        <p:nvSpPr>
          <p:cNvPr id="21" name="Text 16"/>
          <p:cNvSpPr txBox="1"/>
          <p:nvPr/>
        </p:nvSpPr>
        <p:spPr>
          <a:xfrm>
            <a:off x="8138160" y="5486400"/>
            <a:ext cx="3200400" cy="640080"/>
          </a:xfrm>
          <a:prstGeom prst="rect">
            <a:avLst/>
          </a:prstGeom>
          <a:noFill/>
          <a:ln/>
        </p:spPr>
        <p:txBody>
          <a:bodyPr wrap="square" lIns="0" tIns="0" rIns="0" bIns="0" rtlCol="0" anchor="t"/>
          <a:lstStyle/>
          <a:p>
            <a:pPr marL="0" indent="0" algn="l">
              <a:buNone/>
            </a:pPr>
            <a:r>
              <a:rPr lang="en-US" sz="1600" dirty="0">
                <a:solidFill>
                  <a:schemeClr val="bg1"/>
                </a:solidFill>
              </a:rPr>
              <a:t>Fits the sustainability theme, and scales to other campuses</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1"/>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chemeClr val="tx2"/>
                </a:solidFill>
              </a:rPr>
              <a:t>Measurable outcomes</a:t>
            </a:r>
            <a:endParaRPr lang="en-US" sz="3600" dirty="0"/>
          </a:p>
        </p:txBody>
      </p:sp>
      <p:sp>
        <p:nvSpPr>
          <p:cNvPr id="3" name="KpiCard1"/>
          <p:cNvSpPr/>
          <p:nvPr/>
        </p:nvSpPr>
        <p:spPr>
          <a:xfrm>
            <a:off x="548640" y="1463040"/>
            <a:ext cx="2651760" cy="2834640"/>
          </a:xfrm>
          <a:prstGeom prst="roundRect">
            <a:avLst>
              <a:gd name="adj" fmla="val 4138"/>
            </a:avLst>
          </a:prstGeom>
          <a:solidFill>
            <a:schemeClr val="bg2"/>
          </a:solidFill>
          <a:ln w="12700">
            <a:solidFill>
              <a:schemeClr val="bg2"/>
            </a:solidFill>
            <a:prstDash val="solid"/>
          </a:ln>
          <a:effectLst>
            <a:outerShdw blurRad="76200" dist="25400" dir="5400000" algn="bl" rotWithShape="0">
              <a:srgbClr val="000000">
                <a:alpha val="10000"/>
              </a:srgbClr>
            </a:outerShdw>
          </a:effectLst>
        </p:spPr>
      </p:sp>
      <p:sp>
        <p:nvSpPr>
          <p:cNvPr id="4" name="Text 2"/>
          <p:cNvSpPr txBox="1"/>
          <p:nvPr/>
        </p:nvSpPr>
        <p:spPr>
          <a:xfrm>
            <a:off x="777240" y="1645920"/>
            <a:ext cx="2286000" cy="822960"/>
          </a:xfrm>
          <a:prstGeom prst="rect">
            <a:avLst/>
          </a:prstGeom>
          <a:noFill/>
          <a:ln/>
        </p:spPr>
        <p:txBody>
          <a:bodyPr wrap="square" lIns="0" tIns="0" rIns="0" bIns="0" rtlCol="0" anchor="ctr"/>
          <a:lstStyle/>
          <a:p>
            <a:pPr marL="0" indent="0" algn="l">
              <a:buNone/>
            </a:pPr>
            <a:r>
              <a:rPr lang="en-US" sz="3600" b="1" dirty="0">
                <a:solidFill>
                  <a:schemeClr val="accent1"/>
                </a:solidFill>
                <a:latin typeface="Cambria" pitchFamily="34" charset="0"/>
                <a:ea typeface="Cambria" pitchFamily="34" charset="-122"/>
                <a:cs typeface="Cambria" pitchFamily="34" charset="-120"/>
              </a:rPr>
              <a:t>1000+</a:t>
            </a:r>
            <a:endParaRPr lang="en-US" sz="3600" dirty="0"/>
          </a:p>
        </p:txBody>
      </p:sp>
      <p:sp>
        <p:nvSpPr>
          <p:cNvPr id="5" name="Text 3"/>
          <p:cNvSpPr txBox="1"/>
          <p:nvPr/>
        </p:nvSpPr>
        <p:spPr>
          <a:xfrm>
            <a:off x="777240" y="2514600"/>
            <a:ext cx="2286000" cy="365760"/>
          </a:xfrm>
          <a:prstGeom prst="rect">
            <a:avLst/>
          </a:prstGeom>
          <a:noFill/>
          <a:ln/>
        </p:spPr>
        <p:txBody>
          <a:bodyPr wrap="square" lIns="0" tIns="0" rIns="0" bIns="0" rtlCol="0" anchor="t"/>
          <a:lstStyle/>
          <a:p>
            <a:pPr marL="0" indent="0" algn="l">
              <a:buNone/>
            </a:pPr>
            <a:r>
              <a:rPr lang="en-US" sz="1600" b="1" dirty="0">
                <a:solidFill>
                  <a:schemeClr val="tx2"/>
                </a:solidFill>
              </a:rPr>
              <a:t>events/sec ingested</a:t>
            </a:r>
            <a:endParaRPr lang="en-US" sz="1600" dirty="0"/>
          </a:p>
        </p:txBody>
      </p:sp>
      <p:sp>
        <p:nvSpPr>
          <p:cNvPr id="6" name="Text 4"/>
          <p:cNvSpPr txBox="1"/>
          <p:nvPr/>
        </p:nvSpPr>
        <p:spPr>
          <a:xfrm>
            <a:off x="777240" y="3017520"/>
            <a:ext cx="2286000" cy="1097280"/>
          </a:xfrm>
          <a:prstGeom prst="rect">
            <a:avLst/>
          </a:prstGeom>
          <a:noFill/>
          <a:ln/>
        </p:spPr>
        <p:txBody>
          <a:bodyPr wrap="square" lIns="0" tIns="0" rIns="0" bIns="0" rtlCol="0" anchor="t"/>
          <a:lstStyle/>
          <a:p>
            <a:pPr marL="0" indent="0" algn="l">
              <a:buNone/>
            </a:pPr>
            <a:r>
              <a:rPr lang="en-US" sz="1400" dirty="0">
                <a:solidFill>
                  <a:schemeClr val="tx1"/>
                </a:solidFill>
              </a:rPr>
              <a:t>Load-tested with k6 or Locust. Exact N set after the first test.</a:t>
            </a:r>
            <a:endParaRPr lang="en-US" sz="1400" dirty="0"/>
          </a:p>
        </p:txBody>
      </p:sp>
      <p:sp>
        <p:nvSpPr>
          <p:cNvPr id="7" name="KpiCard2"/>
          <p:cNvSpPr/>
          <p:nvPr/>
        </p:nvSpPr>
        <p:spPr>
          <a:xfrm>
            <a:off x="3364992" y="1463040"/>
            <a:ext cx="2651760" cy="2834640"/>
          </a:xfrm>
          <a:prstGeom prst="roundRect">
            <a:avLst>
              <a:gd name="adj" fmla="val 4138"/>
            </a:avLst>
          </a:prstGeom>
          <a:solidFill>
            <a:schemeClr val="bg2"/>
          </a:solidFill>
          <a:ln w="12700">
            <a:solidFill>
              <a:schemeClr val="bg2"/>
            </a:solidFill>
            <a:prstDash val="solid"/>
          </a:ln>
          <a:effectLst>
            <a:outerShdw blurRad="76200" dist="25400" dir="5400000" algn="bl" rotWithShape="0">
              <a:srgbClr val="000000">
                <a:alpha val="10000"/>
              </a:srgbClr>
            </a:outerShdw>
          </a:effectLst>
        </p:spPr>
      </p:sp>
      <p:sp>
        <p:nvSpPr>
          <p:cNvPr id="8" name="Text 6"/>
          <p:cNvSpPr txBox="1"/>
          <p:nvPr/>
        </p:nvSpPr>
        <p:spPr>
          <a:xfrm>
            <a:off x="3593592" y="1645920"/>
            <a:ext cx="2286000" cy="822960"/>
          </a:xfrm>
          <a:prstGeom prst="rect">
            <a:avLst/>
          </a:prstGeom>
          <a:noFill/>
          <a:ln/>
        </p:spPr>
        <p:txBody>
          <a:bodyPr wrap="square" lIns="0" tIns="0" rIns="0" bIns="0" rtlCol="0" anchor="ctr"/>
          <a:lstStyle/>
          <a:p>
            <a:pPr marL="0" indent="0" algn="l">
              <a:buNone/>
            </a:pPr>
            <a:r>
              <a:rPr lang="en-US" sz="3600" b="1" dirty="0">
                <a:solidFill>
                  <a:schemeClr val="accent1"/>
                </a:solidFill>
                <a:latin typeface="Cambria" pitchFamily="34" charset="0"/>
                <a:ea typeface="Cambria" pitchFamily="34" charset="-122"/>
                <a:cs typeface="Cambria" pitchFamily="34" charset="-120"/>
              </a:rPr>
              <a:t>&lt; 200 ms</a:t>
            </a:r>
            <a:endParaRPr lang="en-US" sz="3600" dirty="0"/>
          </a:p>
        </p:txBody>
      </p:sp>
      <p:sp>
        <p:nvSpPr>
          <p:cNvPr id="9" name="Text 7"/>
          <p:cNvSpPr txBox="1"/>
          <p:nvPr/>
        </p:nvSpPr>
        <p:spPr>
          <a:xfrm>
            <a:off x="3593592" y="2514600"/>
            <a:ext cx="2286000" cy="365760"/>
          </a:xfrm>
          <a:prstGeom prst="rect">
            <a:avLst/>
          </a:prstGeom>
          <a:noFill/>
          <a:ln/>
        </p:spPr>
        <p:txBody>
          <a:bodyPr wrap="square" lIns="0" tIns="0" rIns="0" bIns="0" rtlCol="0" anchor="t"/>
          <a:lstStyle/>
          <a:p>
            <a:pPr marL="0" indent="0" algn="l">
              <a:buNone/>
            </a:pPr>
            <a:r>
              <a:rPr lang="en-US" sz="1600" b="1" dirty="0">
                <a:solidFill>
                  <a:schemeClr val="tx2"/>
                </a:solidFill>
              </a:rPr>
              <a:t>p95 API latency</a:t>
            </a:r>
            <a:endParaRPr lang="en-US" sz="1600" dirty="0"/>
          </a:p>
        </p:txBody>
      </p:sp>
      <p:sp>
        <p:nvSpPr>
          <p:cNvPr id="10" name="Text 8"/>
          <p:cNvSpPr txBox="1"/>
          <p:nvPr/>
        </p:nvSpPr>
        <p:spPr>
          <a:xfrm>
            <a:off x="3593592" y="3017520"/>
            <a:ext cx="2286000" cy="1097280"/>
          </a:xfrm>
          <a:prstGeom prst="rect">
            <a:avLst/>
          </a:prstGeom>
          <a:noFill/>
          <a:ln/>
        </p:spPr>
        <p:txBody>
          <a:bodyPr wrap="square" lIns="0" tIns="0" rIns="0" bIns="0" rtlCol="0" anchor="t"/>
          <a:lstStyle/>
          <a:p>
            <a:pPr marL="0" indent="0" algn="l">
              <a:buNone/>
            </a:pPr>
            <a:r>
              <a:rPr lang="en-US" sz="1400" dirty="0">
                <a:solidFill>
                  <a:schemeClr val="tx1"/>
                </a:solidFill>
              </a:rPr>
              <a:t>Measured under concurrent load.</a:t>
            </a:r>
            <a:endParaRPr lang="en-US" sz="1400" dirty="0"/>
          </a:p>
        </p:txBody>
      </p:sp>
      <p:sp>
        <p:nvSpPr>
          <p:cNvPr id="11" name="KpiCard3"/>
          <p:cNvSpPr/>
          <p:nvPr/>
        </p:nvSpPr>
        <p:spPr>
          <a:xfrm>
            <a:off x="6181344" y="1463040"/>
            <a:ext cx="2651760" cy="2834640"/>
          </a:xfrm>
          <a:prstGeom prst="roundRect">
            <a:avLst>
              <a:gd name="adj" fmla="val 4138"/>
            </a:avLst>
          </a:prstGeom>
          <a:solidFill>
            <a:schemeClr val="bg2"/>
          </a:solidFill>
          <a:ln w="12700">
            <a:solidFill>
              <a:schemeClr val="bg2"/>
            </a:solidFill>
            <a:prstDash val="solid"/>
          </a:ln>
          <a:effectLst>
            <a:outerShdw blurRad="76200" dist="25400" dir="5400000" algn="bl" rotWithShape="0">
              <a:srgbClr val="000000">
                <a:alpha val="10000"/>
              </a:srgbClr>
            </a:outerShdw>
          </a:effectLst>
        </p:spPr>
      </p:sp>
      <p:sp>
        <p:nvSpPr>
          <p:cNvPr id="12" name="Text 10"/>
          <p:cNvSpPr txBox="1"/>
          <p:nvPr/>
        </p:nvSpPr>
        <p:spPr>
          <a:xfrm>
            <a:off x="6409944" y="1645920"/>
            <a:ext cx="2286000" cy="822960"/>
          </a:xfrm>
          <a:prstGeom prst="rect">
            <a:avLst/>
          </a:prstGeom>
          <a:noFill/>
          <a:ln/>
        </p:spPr>
        <p:txBody>
          <a:bodyPr wrap="square" lIns="0" tIns="0" rIns="0" bIns="0" rtlCol="0" anchor="ctr"/>
          <a:lstStyle/>
          <a:p>
            <a:pPr marL="0" indent="0" algn="l">
              <a:buNone/>
            </a:pPr>
            <a:r>
              <a:rPr lang="en-US" sz="3600" b="1" dirty="0">
                <a:solidFill>
                  <a:schemeClr val="accent1"/>
                </a:solidFill>
                <a:latin typeface="Cambria" pitchFamily="34" charset="0"/>
                <a:ea typeface="Cambria" pitchFamily="34" charset="-122"/>
                <a:cs typeface="Cambria" pitchFamily="34" charset="-120"/>
              </a:rPr>
              <a:t>&lt; 10 s</a:t>
            </a:r>
            <a:endParaRPr lang="en-US" sz="3600" dirty="0"/>
          </a:p>
        </p:txBody>
      </p:sp>
      <p:sp>
        <p:nvSpPr>
          <p:cNvPr id="13" name="Text 11"/>
          <p:cNvSpPr txBox="1"/>
          <p:nvPr/>
        </p:nvSpPr>
        <p:spPr>
          <a:xfrm>
            <a:off x="6409944" y="2514600"/>
            <a:ext cx="2286000" cy="365760"/>
          </a:xfrm>
          <a:prstGeom prst="rect">
            <a:avLst/>
          </a:prstGeom>
          <a:noFill/>
          <a:ln/>
        </p:spPr>
        <p:txBody>
          <a:bodyPr wrap="square" lIns="0" tIns="0" rIns="0" bIns="0" rtlCol="0" anchor="t"/>
          <a:lstStyle/>
          <a:p>
            <a:pPr marL="0" indent="0" algn="l">
              <a:buNone/>
            </a:pPr>
            <a:r>
              <a:rPr lang="en-US" sz="1600" b="1" dirty="0">
                <a:solidFill>
                  <a:schemeClr val="tx2"/>
                </a:solidFill>
              </a:rPr>
              <a:t>alert latency</a:t>
            </a:r>
            <a:endParaRPr lang="en-US" sz="1600" dirty="0"/>
          </a:p>
        </p:txBody>
      </p:sp>
      <p:sp>
        <p:nvSpPr>
          <p:cNvPr id="14" name="Text 12"/>
          <p:cNvSpPr txBox="1"/>
          <p:nvPr/>
        </p:nvSpPr>
        <p:spPr>
          <a:xfrm>
            <a:off x="6409944" y="3017520"/>
            <a:ext cx="2286000" cy="1097280"/>
          </a:xfrm>
          <a:prstGeom prst="rect">
            <a:avLst/>
          </a:prstGeom>
          <a:noFill/>
          <a:ln/>
        </p:spPr>
        <p:txBody>
          <a:bodyPr wrap="square" lIns="0" tIns="0" rIns="0" bIns="0" rtlCol="0" anchor="t"/>
          <a:lstStyle/>
          <a:p>
            <a:pPr marL="0" indent="0" algn="l">
              <a:buNone/>
            </a:pPr>
            <a:r>
              <a:rPr lang="en-US" sz="1400" dirty="0">
                <a:solidFill>
                  <a:schemeClr val="tx1"/>
                </a:solidFill>
              </a:rPr>
              <a:t>From anomaly to notification.</a:t>
            </a:r>
            <a:endParaRPr lang="en-US" sz="1400" dirty="0"/>
          </a:p>
        </p:txBody>
      </p:sp>
      <p:sp>
        <p:nvSpPr>
          <p:cNvPr id="15" name="KpiCard4"/>
          <p:cNvSpPr/>
          <p:nvPr/>
        </p:nvSpPr>
        <p:spPr>
          <a:xfrm>
            <a:off x="8997696" y="1463040"/>
            <a:ext cx="2651760" cy="2834640"/>
          </a:xfrm>
          <a:prstGeom prst="roundRect">
            <a:avLst>
              <a:gd name="adj" fmla="val 4138"/>
            </a:avLst>
          </a:prstGeom>
          <a:solidFill>
            <a:schemeClr val="bg2"/>
          </a:solidFill>
          <a:ln w="12700">
            <a:solidFill>
              <a:schemeClr val="bg2"/>
            </a:solidFill>
            <a:prstDash val="solid"/>
          </a:ln>
          <a:effectLst>
            <a:outerShdw blurRad="76200" dist="25400" dir="5400000" algn="bl" rotWithShape="0">
              <a:srgbClr val="000000">
                <a:alpha val="10000"/>
              </a:srgbClr>
            </a:outerShdw>
          </a:effectLst>
        </p:spPr>
      </p:sp>
      <p:sp>
        <p:nvSpPr>
          <p:cNvPr id="16" name="Text 14"/>
          <p:cNvSpPr txBox="1"/>
          <p:nvPr/>
        </p:nvSpPr>
        <p:spPr>
          <a:xfrm>
            <a:off x="9226296" y="1645920"/>
            <a:ext cx="2286000" cy="822960"/>
          </a:xfrm>
          <a:prstGeom prst="rect">
            <a:avLst/>
          </a:prstGeom>
          <a:noFill/>
          <a:ln/>
        </p:spPr>
        <p:txBody>
          <a:bodyPr wrap="square" lIns="0" tIns="0" rIns="0" bIns="0" rtlCol="0" anchor="ctr"/>
          <a:lstStyle/>
          <a:p>
            <a:pPr marL="0" indent="0" algn="l">
              <a:buNone/>
            </a:pPr>
            <a:r>
              <a:rPr lang="en-US" sz="3600" b="1" dirty="0">
                <a:solidFill>
                  <a:schemeClr val="accent1"/>
                </a:solidFill>
                <a:latin typeface="Cambria" pitchFamily="34" charset="0"/>
                <a:ea typeface="Cambria" pitchFamily="34" charset="-122"/>
                <a:cs typeface="Cambria" pitchFamily="34" charset="-120"/>
              </a:rPr>
              <a:t>90%+</a:t>
            </a:r>
            <a:endParaRPr lang="en-US" sz="3600" dirty="0"/>
          </a:p>
        </p:txBody>
      </p:sp>
      <p:sp>
        <p:nvSpPr>
          <p:cNvPr id="17" name="Text 15"/>
          <p:cNvSpPr txBox="1"/>
          <p:nvPr/>
        </p:nvSpPr>
        <p:spPr>
          <a:xfrm>
            <a:off x="9226296" y="2514600"/>
            <a:ext cx="2286000" cy="365760"/>
          </a:xfrm>
          <a:prstGeom prst="rect">
            <a:avLst/>
          </a:prstGeom>
          <a:noFill/>
          <a:ln/>
        </p:spPr>
        <p:txBody>
          <a:bodyPr wrap="square" lIns="0" tIns="0" rIns="0" bIns="0" rtlCol="0" anchor="t"/>
          <a:lstStyle/>
          <a:p>
            <a:pPr marL="0" indent="0" algn="l">
              <a:buNone/>
            </a:pPr>
            <a:r>
              <a:rPr lang="en-US" sz="1600" b="1" dirty="0">
                <a:solidFill>
                  <a:schemeClr val="tx2"/>
                </a:solidFill>
              </a:rPr>
              <a:t>anomaly recall</a:t>
            </a:r>
            <a:endParaRPr lang="en-US" sz="1600" dirty="0"/>
          </a:p>
        </p:txBody>
      </p:sp>
      <p:sp>
        <p:nvSpPr>
          <p:cNvPr id="18" name="Text 16"/>
          <p:cNvSpPr txBox="1"/>
          <p:nvPr/>
        </p:nvSpPr>
        <p:spPr>
          <a:xfrm>
            <a:off x="9226296" y="3017520"/>
            <a:ext cx="2286000" cy="1097280"/>
          </a:xfrm>
          <a:prstGeom prst="rect">
            <a:avLst/>
          </a:prstGeom>
          <a:noFill/>
          <a:ln/>
        </p:spPr>
        <p:txBody>
          <a:bodyPr wrap="square" lIns="0" tIns="0" rIns="0" bIns="0" rtlCol="0" anchor="t"/>
          <a:lstStyle/>
          <a:p>
            <a:pPr marL="0" indent="0" algn="l">
              <a:buNone/>
            </a:pPr>
            <a:r>
              <a:rPr lang="en-US" sz="1400" dirty="0">
                <a:solidFill>
                  <a:schemeClr val="tx1"/>
                </a:solidFill>
              </a:rPr>
              <a:t>Against faults we inject into the simulator.</a:t>
            </a:r>
            <a:endParaRPr lang="en-US" sz="1400" dirty="0"/>
          </a:p>
        </p:txBody>
      </p:sp>
      <p:sp>
        <p:nvSpPr>
          <p:cNvPr id="19" name="SavingsPanel"/>
          <p:cNvSpPr/>
          <p:nvPr/>
        </p:nvSpPr>
        <p:spPr>
          <a:xfrm>
            <a:off x="548640" y="4572000"/>
            <a:ext cx="11064240" cy="1645920"/>
          </a:xfrm>
          <a:prstGeom prst="roundRect">
            <a:avLst>
              <a:gd name="adj" fmla="val 6667"/>
            </a:avLst>
          </a:prstGeom>
          <a:solidFill>
            <a:schemeClr val="tx2"/>
          </a:solidFill>
          <a:ln w="12700">
            <a:solidFill>
              <a:schemeClr val="tx2"/>
            </a:solidFill>
            <a:prstDash val="solid"/>
          </a:ln>
        </p:spPr>
      </p:sp>
      <p:sp>
        <p:nvSpPr>
          <p:cNvPr id="20" name="Text 18"/>
          <p:cNvSpPr txBox="1"/>
          <p:nvPr/>
        </p:nvSpPr>
        <p:spPr>
          <a:xfrm>
            <a:off x="868680" y="4754880"/>
            <a:ext cx="10424160" cy="457200"/>
          </a:xfrm>
          <a:prstGeom prst="rect">
            <a:avLst/>
          </a:prstGeom>
          <a:noFill/>
          <a:ln/>
        </p:spPr>
        <p:txBody>
          <a:bodyPr wrap="square" lIns="0" tIns="0" rIns="0" bIns="0" rtlCol="0" anchor="t"/>
          <a:lstStyle/>
          <a:p>
            <a:pPr marL="0" indent="0" algn="l">
              <a:buNone/>
            </a:pPr>
            <a:r>
              <a:rPr lang="en-US" sz="2000" b="1" dirty="0">
                <a:solidFill>
                  <a:schemeClr val="accent2"/>
                </a:solidFill>
              </a:rPr>
              <a:t>Savings we will demonstrate</a:t>
            </a:r>
            <a:endParaRPr lang="en-US" sz="2000" dirty="0"/>
          </a:p>
        </p:txBody>
      </p:sp>
      <p:sp>
        <p:nvSpPr>
          <p:cNvPr id="21" name="Text 19"/>
          <p:cNvSpPr txBox="1"/>
          <p:nvPr/>
        </p:nvSpPr>
        <p:spPr>
          <a:xfrm>
            <a:off x="868680" y="5303520"/>
            <a:ext cx="10424160" cy="822960"/>
          </a:xfrm>
          <a:prstGeom prst="rect">
            <a:avLst/>
          </a:prstGeom>
          <a:noFill/>
          <a:ln/>
        </p:spPr>
        <p:txBody>
          <a:bodyPr wrap="square" lIns="0" tIns="0" rIns="0" bIns="0" rtlCol="0" anchor="t"/>
          <a:lstStyle/>
          <a:p>
            <a:pPr marL="0" indent="0" algn="l">
              <a:buNone/>
            </a:pPr>
            <a:r>
              <a:rPr lang="en-US" sz="1600" dirty="0">
                <a:solidFill>
                  <a:schemeClr val="bg1"/>
                </a:solidFill>
              </a:rPr>
              <a:t>kWh, rupees and CO2 saved on the dataset and simulation, shown on the dashboard and the monthly audit report. All results backed by load tests and fault injection.</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1"/>
                </a:solidFill>
              </a:defRPr>
            </a:lvl1pPr>
          </a:lstStyle>
          <a:p>
            <a:pPr algn="r"/>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CampusWatt">
  <a:themeElements>
    <a:clrScheme name="CampusWatt">
      <a:dk1>
        <a:srgbClr val="14201E"/>
      </a:dk1>
      <a:lt1>
        <a:srgbClr val="FFFFFF"/>
      </a:lt1>
      <a:dk2>
        <a:srgbClr val="0B3B36"/>
      </a:dk2>
      <a:lt2>
        <a:srgbClr val="E8F3F0"/>
      </a:lt2>
      <a:accent1>
        <a:srgbClr val="0F766E"/>
      </a:accent1>
      <a:accent2>
        <a:srgbClr val="F5A800"/>
      </a:accent2>
      <a:accent3>
        <a:srgbClr val="2EC4A0"/>
      </a:accent3>
      <a:accent4>
        <a:srgbClr val="D9534F"/>
      </a:accent4>
      <a:accent5>
        <a:srgbClr val="5B6B8C"/>
      </a:accent5>
      <a:accent6>
        <a:srgbClr val="8FA9A3"/>
      </a:accent6>
      <a:hlink>
        <a:srgbClr val="0F766E"/>
      </a:hlink>
      <a:folHlink>
        <a:srgbClr val="5B6B8C"/>
      </a:folHlink>
    </a:clrScheme>
    <a:fontScheme name="CampusWat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1301</Words>
  <Application>Microsoft Office PowerPoint</Application>
  <PresentationFormat>Widescreen</PresentationFormat>
  <Paragraphs>155</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CampusWatt</vt:lpstr>
      <vt:lpstr>CampusWatt</vt:lpstr>
      <vt:lpstr>Campuses can't see where energy goes</vt:lpstr>
      <vt:lpstr>Who needs CampusWatt</vt:lpstr>
      <vt:lpstr>Where the inputs come from</vt:lpstr>
      <vt:lpstr>Scenario: Hall 204, Saturday 11 PM</vt:lpstr>
      <vt:lpstr>System architecture</vt:lpstr>
      <vt:lpstr>What CampusWatt does</vt:lpstr>
      <vt:lpstr>A strong system design problem</vt:lpstr>
      <vt:lpstr>Expected Impact and sustainability</vt:lpstr>
      <vt:lpstr>Measurable outcomes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CampusWatt - Campus Energy Audit &amp; Management System</dc:title>
  <dc:subject>PptxGenJS Presentation</dc:subject>
  <dc:creator>PptxGenJS</dc:creator>
  <cp:lastModifiedBy>shashank yadav</cp:lastModifiedBy>
  <cp:revision>3</cp:revision>
  <dcterms:created xsi:type="dcterms:W3CDTF">2026-10-05T08:28:47Z</dcterms:created>
  <dcterms:modified xsi:type="dcterms:W3CDTF">2026-10-05T09:01:46Z</dcterms:modified>
</cp:coreProperties>
</file>